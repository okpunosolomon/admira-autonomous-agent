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7" r:id="rId9"/>
    <p:sldId id="262" r:id="rId10"/>
    <p:sldId id="263" r:id="rId11"/>
    <p:sldId id="268" r:id="rId12"/>
    <p:sldId id="264" r:id="rId13"/>
    <p:sldId id="269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9.jpg"/><Relationship Id="rId4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9376D">
                  <a:alpha val="85000"/>
                </a:srgbClr>
              </a:gs>
              <a:gs pos="100000">
                <a:srgbClr val="19376D">
                  <a:alpha val="7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00239" y="2276474"/>
            <a:ext cx="7400739" cy="7334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300"/>
              </a:spcAft>
            </a:pPr>
            <a:r>
              <a:rPr sz="3827" b="1">
                <a:solidFill>
                  <a:srgbClr val="FFFFFF"/>
                </a:solidFill>
              </a:rPr>
              <a:t>Admira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239" y="3200400"/>
            <a:ext cx="740073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FFFFFF"/>
                </a:solidFill>
              </a:rPr>
              <a:t>Student Enquiry and Information Help Desk Agent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428" y="3962728"/>
            <a:ext cx="342891" cy="2660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239" y="4362450"/>
            <a:ext cx="126679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Admission Status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1390" y="3962728"/>
            <a:ext cx="342891" cy="2660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38499" y="4362450"/>
            <a:ext cx="101914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Results Check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7253" y="3968640"/>
            <a:ext cx="342891" cy="2542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38639" y="4362450"/>
            <a:ext cx="120011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Accommodation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72185" y="3974552"/>
            <a:ext cx="342891" cy="2423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29274" y="4362450"/>
            <a:ext cx="1428714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Tuition &amp; Payments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43771" y="3962728"/>
            <a:ext cx="342891" cy="2660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38979" y="4362450"/>
            <a:ext cx="96200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24/7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88043" y="240302"/>
            <a:ext cx="2215608" cy="5671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685925"/>
            <a:ext cx="2552636" cy="1343025"/>
          </a:xfrm>
          <a:prstGeom prst="roundRect">
            <a:avLst>
              <a:gd name="adj" fmla="val 141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57228" y="2076449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674" y="2247899"/>
            <a:ext cx="228594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71585" y="1876424"/>
            <a:ext cx="1457288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9376D"/>
                </a:solidFill>
              </a:rPr>
              <a:t>Time-Consuming Processes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1585" y="2411761"/>
            <a:ext cx="1457288" cy="4533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Long wait times for status updates and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9864" y="1685925"/>
            <a:ext cx="2552636" cy="1343025"/>
          </a:xfrm>
          <a:prstGeom prst="roundRect">
            <a:avLst>
              <a:gd name="adj" fmla="val 141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00359" y="2076449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706" y="2247899"/>
            <a:ext cx="285742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05192" y="2000250"/>
            <a:ext cx="145728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9376D"/>
                </a:solidFill>
              </a:rPr>
              <a:t>Overwhelmed 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5192" y="2305049"/>
            <a:ext cx="145728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High volume of repetitive queries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219449"/>
            <a:ext cx="2552636" cy="1343025"/>
          </a:xfrm>
          <a:prstGeom prst="roundRect">
            <a:avLst>
              <a:gd name="adj" fmla="val 141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7228" y="3600450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248" y="3771900"/>
            <a:ext cx="171445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71585" y="3543300"/>
            <a:ext cx="145728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9376D"/>
                </a:solidFill>
              </a:rPr>
              <a:t>Limited Availability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1585" y="3821459"/>
            <a:ext cx="1457288" cy="4533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555555"/>
                </a:solidFill>
              </a:rPr>
              <a:t>Support unavailable outside business hours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9864" y="3219449"/>
            <a:ext cx="2552636" cy="1343025"/>
          </a:xfrm>
          <a:prstGeom prst="roundRect">
            <a:avLst>
              <a:gd name="adj" fmla="val 141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00359" y="3600450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1805" y="3771900"/>
            <a:ext cx="228594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05192" y="3409950"/>
            <a:ext cx="1457288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9376D"/>
                </a:solidFill>
              </a:rPr>
              <a:t>Fragmented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5192" y="3945286"/>
            <a:ext cx="1457288" cy="4533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555555"/>
                </a:solidFill>
              </a:rPr>
              <a:t>Separate processes causing confusion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4752974"/>
            <a:ext cx="5286242" cy="9524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7228" y="4943475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8674" y="5114925"/>
            <a:ext cx="228594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71585" y="4972050"/>
            <a:ext cx="419089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9376D"/>
                </a:solidFill>
              </a:rPr>
              <a:t>Student Dissatisfaction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1585" y="5276850"/>
            <a:ext cx="419089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Poor experience leading to negative perception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5472" y="2257425"/>
            <a:ext cx="355273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625"/>
              </a:spcAft>
            </a:pPr>
            <a:r>
              <a:rPr sz="1435" b="1">
                <a:solidFill>
                  <a:srgbClr val="19376D"/>
                </a:solidFill>
              </a:rPr>
              <a:t>Admira Transforms Student Services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8719" y="2838450"/>
            <a:ext cx="5286242" cy="2295525"/>
          </a:xfrm>
          <a:prstGeom prst="roundRect">
            <a:avLst>
              <a:gd name="adj" fmla="val 124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38719" y="2838450"/>
            <a:ext cx="2647883" cy="542925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38719" y="2838450"/>
            <a:ext cx="2647883" cy="5429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721C24"/>
                </a:solidFill>
              </a:rPr>
              <a:t>Traditional Process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77078" y="2838450"/>
            <a:ext cx="2647883" cy="542925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77078" y="2838450"/>
            <a:ext cx="2647883" cy="5429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55724"/>
                </a:solidFill>
              </a:rPr>
              <a:t>Admira Solution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53016" y="3505199"/>
            <a:ext cx="142871" cy="19049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91135" y="3495675"/>
            <a:ext cx="87627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</a:rPr>
              <a:t>Long wait times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91375" y="3505199"/>
            <a:ext cx="171445" cy="19049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258068" y="3505199"/>
            <a:ext cx="981050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</a:rPr>
              <a:t>Instant responses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53016" y="3943350"/>
            <a:ext cx="142871" cy="19049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91135" y="3933824"/>
            <a:ext cx="67625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</a:rPr>
              <a:t>Paper forms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991375" y="3943350"/>
            <a:ext cx="238119" cy="19049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334266" y="3943350"/>
            <a:ext cx="99057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</a:rPr>
              <a:t>Conversational UI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53016" y="4381499"/>
            <a:ext cx="190495" cy="19049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38759" y="4371975"/>
            <a:ext cx="79055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</a:rPr>
              <a:t>Phone queues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991375" y="4381499"/>
            <a:ext cx="238119" cy="19049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334266" y="4381499"/>
            <a:ext cx="119059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</a:rPr>
              <a:t>Automated processes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53016" y="4819650"/>
            <a:ext cx="190495" cy="19049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38759" y="4810124"/>
            <a:ext cx="77150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</a:rPr>
              <a:t>Limited hours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991375" y="4819650"/>
            <a:ext cx="190495" cy="19049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277118" y="4819650"/>
            <a:ext cx="87627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</a:rPr>
              <a:t>24/7 availability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343650"/>
            <a:ext cx="12191695" cy="514350"/>
          </a:xfrm>
          <a:prstGeom prst="rect">
            <a:avLst/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01413" y="240303"/>
            <a:ext cx="3588868" cy="5671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FFFF"/>
                </a:solidFill>
              </a:rPr>
              <a:t>OUR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333500"/>
            <a:ext cx="4810004" cy="742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1625"/>
              </a:spcAft>
            </a:pPr>
            <a:r>
              <a:rPr sz="1554" b="1">
                <a:solidFill>
                  <a:srgbClr val="19376D"/>
                </a:solidFill>
              </a:rPr>
              <a:t>Admira: Intelligent Student Enquiry and Information Help Desk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314575"/>
            <a:ext cx="2304992" cy="990599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9604" y="24574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2581275"/>
            <a:ext cx="285742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28714" y="2457450"/>
            <a:ext cx="140013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9376D"/>
                </a:solidFill>
              </a:rPr>
              <a:t>Admission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14" y="2735610"/>
            <a:ext cx="1543011" cy="4533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555555"/>
                </a:solidFill>
              </a:rPr>
              <a:t>Instant access to application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62220" y="2314575"/>
            <a:ext cx="2304992" cy="990599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05092" y="24574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8914" y="2581275"/>
            <a:ext cx="228594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24201" y="2457450"/>
            <a:ext cx="140013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9376D"/>
                </a:solidFill>
              </a:rPr>
              <a:t>Results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4201" y="2735610"/>
            <a:ext cx="1457290" cy="4533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Secure access to academic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495675"/>
            <a:ext cx="2304992" cy="1247775"/>
          </a:xfrm>
          <a:prstGeom prst="roundRect">
            <a:avLst>
              <a:gd name="adj" fmla="val 152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9604" y="36385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377" y="3762374"/>
            <a:ext cx="257168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28714" y="3638550"/>
            <a:ext cx="140013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9376D"/>
                </a:solidFill>
              </a:rPr>
              <a:t>Accommodation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8714" y="3943350"/>
            <a:ext cx="140013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Streamlined booking process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62220" y="3495675"/>
            <a:ext cx="2304992" cy="1247775"/>
          </a:xfrm>
          <a:prstGeom prst="roundRect">
            <a:avLst>
              <a:gd name="adj" fmla="val 152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305092" y="36385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9389" y="3762374"/>
            <a:ext cx="257168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924201" y="3638550"/>
            <a:ext cx="1400139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9376D"/>
                </a:solidFill>
              </a:rPr>
              <a:t>Tuition &amp; 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24201" y="4173886"/>
            <a:ext cx="1400139" cy="4533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555555"/>
                </a:solidFill>
              </a:rPr>
              <a:t>Fee breakdowns and payment options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4933950"/>
            <a:ext cx="4810004" cy="790574"/>
          </a:xfrm>
          <a:prstGeom prst="roundRect">
            <a:avLst>
              <a:gd name="adj" fmla="val 2409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9604" y="50768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426" y="5200650"/>
            <a:ext cx="228594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28714" y="5076825"/>
            <a:ext cx="3905152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9376D"/>
                </a:solidFill>
              </a:rPr>
              <a:t>General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8714" y="5336431"/>
            <a:ext cx="3905152" cy="27379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555555"/>
                </a:solidFill>
              </a:rPr>
              <a:t>24/7 assistance with seamless escalation to human agents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76978" y="2952750"/>
            <a:ext cx="1523961" cy="1523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53216" y="3333749"/>
            <a:ext cx="571485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38919" y="3867149"/>
            <a:ext cx="80007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Admira SEID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5097" y="1809749"/>
            <a:ext cx="1047723" cy="10477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48463" y="2057400"/>
            <a:ext cx="380990" cy="304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15117" y="2419349"/>
            <a:ext cx="64768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Admissions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72386" y="3990974"/>
            <a:ext cx="1047723" cy="10477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943852" y="4229100"/>
            <a:ext cx="304792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886704" y="4591049"/>
            <a:ext cx="41908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Results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15097" y="4572000"/>
            <a:ext cx="1047723" cy="10477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67513" y="4819650"/>
            <a:ext cx="342891" cy="304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00839" y="5181599"/>
            <a:ext cx="47623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Housing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8719" y="3190874"/>
            <a:ext cx="1047723" cy="10477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91135" y="3429000"/>
            <a:ext cx="342891" cy="304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476838" y="3790949"/>
            <a:ext cx="561960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Payments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64376" y="2503226"/>
            <a:ext cx="1047723" cy="10477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002549" y="2752045"/>
            <a:ext cx="304792" cy="3048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0" y="6381749"/>
            <a:ext cx="12191695" cy="514350"/>
          </a:xfrm>
          <a:prstGeom prst="rect">
            <a:avLst/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64377" y="3051817"/>
            <a:ext cx="1022256" cy="27379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 dirty="0">
                <a:solidFill>
                  <a:srgbClr val="19376D"/>
                </a:solidFill>
              </a:rPr>
              <a:t>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E440AC-3EC8-5C37-DE7A-E803C7EEA38F}"/>
              </a:ext>
            </a:extLst>
          </p:cNvPr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AEACF4-A1F5-DD2E-E9ED-866F6C3D1C37}"/>
              </a:ext>
            </a:extLst>
          </p:cNvPr>
          <p:cNvSpPr txBox="1"/>
          <p:nvPr/>
        </p:nvSpPr>
        <p:spPr>
          <a:xfrm>
            <a:off x="666733" y="238124"/>
            <a:ext cx="1085822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Process for Creating an Intelligent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DA1A93-56AF-C7EB-A8B6-1ED261817603}"/>
              </a:ext>
            </a:extLst>
          </p:cNvPr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EBB35A-0202-7391-74F9-0AA9E0AABE76}"/>
              </a:ext>
            </a:extLst>
          </p:cNvPr>
          <p:cNvSpPr/>
          <p:nvPr/>
        </p:nvSpPr>
        <p:spPr>
          <a:xfrm>
            <a:off x="10286742" y="-1428750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19376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74CE85A-887D-D080-E2EF-A4FD0112AE84}"/>
              </a:ext>
            </a:extLst>
          </p:cNvPr>
          <p:cNvSpPr/>
          <p:nvPr/>
        </p:nvSpPr>
        <p:spPr>
          <a:xfrm>
            <a:off x="-952476" y="95249"/>
            <a:ext cx="1904952" cy="1904999"/>
          </a:xfrm>
          <a:prstGeom prst="roundRect">
            <a:avLst>
              <a:gd name="adj" fmla="val 30000"/>
            </a:avLst>
          </a:prstGeom>
          <a:solidFill>
            <a:srgbClr val="19376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0A88E-ED0C-1610-0C15-F8576F5766CF}"/>
              </a:ext>
            </a:extLst>
          </p:cNvPr>
          <p:cNvSpPr txBox="1"/>
          <p:nvPr/>
        </p:nvSpPr>
        <p:spPr>
          <a:xfrm>
            <a:off x="666733" y="1238249"/>
            <a:ext cx="108582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950"/>
              </a:spcAft>
            </a:pPr>
            <a:r>
              <a:rPr sz="1435" b="1">
                <a:solidFill>
                  <a:srgbClr val="19376D"/>
                </a:solidFill>
              </a:rPr>
              <a:t>A systematic approach to building effective AI solutions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FD03AB-D16E-DD40-F0B5-4BF36C8F8FC7}"/>
              </a:ext>
            </a:extLst>
          </p:cNvPr>
          <p:cNvSpPr/>
          <p:nvPr/>
        </p:nvSpPr>
        <p:spPr>
          <a:xfrm>
            <a:off x="1523961" y="2914650"/>
            <a:ext cx="9143771" cy="38100"/>
          </a:xfrm>
          <a:prstGeom prst="rect">
            <a:avLst/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FF1BA77-5BE3-4CA0-5D88-EED4A20BB9AD}"/>
              </a:ext>
            </a:extLst>
          </p:cNvPr>
          <p:cNvSpPr/>
          <p:nvPr/>
        </p:nvSpPr>
        <p:spPr>
          <a:xfrm>
            <a:off x="1285842" y="2295525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2871D-DD1C-4ADB-FFE3-56F2B3E3E55B}"/>
              </a:ext>
            </a:extLst>
          </p:cNvPr>
          <p:cNvSpPr txBox="1"/>
          <p:nvPr/>
        </p:nvSpPr>
        <p:spPr>
          <a:xfrm>
            <a:off x="1285842" y="2295525"/>
            <a:ext cx="47623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8B87B70-543C-FEEF-EF5C-49789447903F}"/>
              </a:ext>
            </a:extLst>
          </p:cNvPr>
          <p:cNvSpPr/>
          <p:nvPr/>
        </p:nvSpPr>
        <p:spPr>
          <a:xfrm>
            <a:off x="1047723" y="2886075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651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B0AC1B46-0852-E567-1986-DA5F30E1FD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81090" y="3171825"/>
            <a:ext cx="285742" cy="3809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D6385-FD0C-2902-85CF-2A83EAE9E2CD}"/>
              </a:ext>
            </a:extLst>
          </p:cNvPr>
          <p:cNvSpPr txBox="1"/>
          <p:nvPr/>
        </p:nvSpPr>
        <p:spPr>
          <a:xfrm>
            <a:off x="923901" y="3981449"/>
            <a:ext cx="120011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9376D"/>
                </a:solidFill>
              </a:rPr>
              <a:t>Make a plan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42F41B-1BE0-4CF8-D61B-4D3C021098CB}"/>
              </a:ext>
            </a:extLst>
          </p:cNvPr>
          <p:cNvSpPr txBox="1"/>
          <p:nvPr/>
        </p:nvSpPr>
        <p:spPr>
          <a:xfrm>
            <a:off x="666733" y="4343400"/>
            <a:ext cx="1714457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Define objectives, scope, and success metrics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E9C84F0-3011-CED5-216B-4986084FA3F5}"/>
              </a:ext>
            </a:extLst>
          </p:cNvPr>
          <p:cNvSpPr/>
          <p:nvPr/>
        </p:nvSpPr>
        <p:spPr>
          <a:xfrm>
            <a:off x="3114597" y="2295525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3E67DC-834E-755F-BEF0-73EFF67341AC}"/>
              </a:ext>
            </a:extLst>
          </p:cNvPr>
          <p:cNvSpPr txBox="1"/>
          <p:nvPr/>
        </p:nvSpPr>
        <p:spPr>
          <a:xfrm>
            <a:off x="3114597" y="2295525"/>
            <a:ext cx="47623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92677A4-56C1-EB51-7A14-899B311316E4}"/>
              </a:ext>
            </a:extLst>
          </p:cNvPr>
          <p:cNvSpPr/>
          <p:nvPr/>
        </p:nvSpPr>
        <p:spPr>
          <a:xfrm>
            <a:off x="2876478" y="2886075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651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6115ED31-26DA-3463-0F9B-115CA944917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1270" y="3171825"/>
            <a:ext cx="333366" cy="3809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852CB0A-04CF-9B5D-C97D-62A098D51F0F}"/>
              </a:ext>
            </a:extLst>
          </p:cNvPr>
          <p:cNvSpPr txBox="1"/>
          <p:nvPr/>
        </p:nvSpPr>
        <p:spPr>
          <a:xfrm>
            <a:off x="2524061" y="3981449"/>
            <a:ext cx="165730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9376D"/>
                </a:solidFill>
              </a:rPr>
              <a:t>Knowledge base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60386E-B8E9-1AE9-D8D4-A3A59A3DA569}"/>
              </a:ext>
            </a:extLst>
          </p:cNvPr>
          <p:cNvSpPr txBox="1"/>
          <p:nvPr/>
        </p:nvSpPr>
        <p:spPr>
          <a:xfrm>
            <a:off x="2495487" y="4343400"/>
            <a:ext cx="1714457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Gather and organize relevant information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A8FB7CE-85F9-DCE2-3596-1A6B011A0408}"/>
              </a:ext>
            </a:extLst>
          </p:cNvPr>
          <p:cNvSpPr/>
          <p:nvPr/>
        </p:nvSpPr>
        <p:spPr>
          <a:xfrm>
            <a:off x="4943351" y="2295525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F03CDC-4026-A696-86AB-D2DFF42F3498}"/>
              </a:ext>
            </a:extLst>
          </p:cNvPr>
          <p:cNvSpPr txBox="1"/>
          <p:nvPr/>
        </p:nvSpPr>
        <p:spPr>
          <a:xfrm>
            <a:off x="4943351" y="2295525"/>
            <a:ext cx="47623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4A10D40-D540-C7A7-FEDE-D26D807A0415}"/>
              </a:ext>
            </a:extLst>
          </p:cNvPr>
          <p:cNvSpPr/>
          <p:nvPr/>
        </p:nvSpPr>
        <p:spPr>
          <a:xfrm>
            <a:off x="4705232" y="2886075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651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03C16DFF-7D48-7057-9045-03CCA3570DE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1925" y="3171825"/>
            <a:ext cx="428614" cy="38099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AEC2B4D-884B-772A-E4CE-07C1E763347C}"/>
              </a:ext>
            </a:extLst>
          </p:cNvPr>
          <p:cNvSpPr txBox="1"/>
          <p:nvPr/>
        </p:nvSpPr>
        <p:spPr>
          <a:xfrm>
            <a:off x="4867153" y="3981449"/>
            <a:ext cx="63815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9376D"/>
                </a:solidFill>
              </a:rPr>
              <a:t>Topics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003FE2-3083-0994-464D-32882BB10422}"/>
              </a:ext>
            </a:extLst>
          </p:cNvPr>
          <p:cNvSpPr txBox="1"/>
          <p:nvPr/>
        </p:nvSpPr>
        <p:spPr>
          <a:xfrm>
            <a:off x="4324241" y="4343400"/>
            <a:ext cx="1714457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Define conversation flows and responses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6ECECE-DA19-3739-E34D-91D76021F01C}"/>
              </a:ext>
            </a:extLst>
          </p:cNvPr>
          <p:cNvSpPr/>
          <p:nvPr/>
        </p:nvSpPr>
        <p:spPr>
          <a:xfrm>
            <a:off x="6772105" y="2295525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7F2B1E-A13B-E7D2-DD99-2D12D639BD9D}"/>
              </a:ext>
            </a:extLst>
          </p:cNvPr>
          <p:cNvSpPr txBox="1"/>
          <p:nvPr/>
        </p:nvSpPr>
        <p:spPr>
          <a:xfrm>
            <a:off x="6772105" y="2295525"/>
            <a:ext cx="47623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43E4CA0-B311-4FB3-D5AA-67A30BC92E9E}"/>
              </a:ext>
            </a:extLst>
          </p:cNvPr>
          <p:cNvSpPr/>
          <p:nvPr/>
        </p:nvSpPr>
        <p:spPr>
          <a:xfrm>
            <a:off x="6533986" y="2886075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651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3537065F-9A0B-0BDC-5148-8B4A01504DA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9729" y="3171825"/>
            <a:ext cx="380990" cy="38099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6E06EB5-28BA-2426-C2AB-F7AE26789A2C}"/>
              </a:ext>
            </a:extLst>
          </p:cNvPr>
          <p:cNvSpPr txBox="1"/>
          <p:nvPr/>
        </p:nvSpPr>
        <p:spPr>
          <a:xfrm>
            <a:off x="6476838" y="3981449"/>
            <a:ext cx="107629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9376D"/>
                </a:solidFill>
              </a:rPr>
              <a:t>Publishing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83BE3F-8A43-2F98-A47C-FB5D7452787D}"/>
              </a:ext>
            </a:extLst>
          </p:cNvPr>
          <p:cNvSpPr txBox="1"/>
          <p:nvPr/>
        </p:nvSpPr>
        <p:spPr>
          <a:xfrm>
            <a:off x="6152996" y="4343400"/>
            <a:ext cx="1714457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Deploy to production environment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245676E-A797-1BBD-195A-FA56415DDB08}"/>
              </a:ext>
            </a:extLst>
          </p:cNvPr>
          <p:cNvSpPr/>
          <p:nvPr/>
        </p:nvSpPr>
        <p:spPr>
          <a:xfrm>
            <a:off x="8600859" y="215265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78FE23-CC46-032E-FDCC-446312679321}"/>
              </a:ext>
            </a:extLst>
          </p:cNvPr>
          <p:cNvSpPr txBox="1"/>
          <p:nvPr/>
        </p:nvSpPr>
        <p:spPr>
          <a:xfrm>
            <a:off x="8600859" y="2152650"/>
            <a:ext cx="47623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EEBE6CE-09E0-CBA9-F586-365A4E153286}"/>
              </a:ext>
            </a:extLst>
          </p:cNvPr>
          <p:cNvSpPr/>
          <p:nvPr/>
        </p:nvSpPr>
        <p:spPr>
          <a:xfrm>
            <a:off x="8362740" y="2743200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651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BADA032F-ED3A-176B-1943-A3F539F7F00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48483" y="3028950"/>
            <a:ext cx="380990" cy="38099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530ACBF-C7D5-EE7E-14FF-E8816441C676}"/>
              </a:ext>
            </a:extLst>
          </p:cNvPr>
          <p:cNvSpPr txBox="1"/>
          <p:nvPr/>
        </p:nvSpPr>
        <p:spPr>
          <a:xfrm>
            <a:off x="7981750" y="3838574"/>
            <a:ext cx="1714457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9376D"/>
                </a:solidFill>
              </a:rPr>
              <a:t>Monitor and Analyze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F44651-BB8D-1652-BF48-C44C924F437A}"/>
              </a:ext>
            </a:extLst>
          </p:cNvPr>
          <p:cNvSpPr txBox="1"/>
          <p:nvPr/>
        </p:nvSpPr>
        <p:spPr>
          <a:xfrm>
            <a:off x="7981750" y="4486275"/>
            <a:ext cx="1714457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Track performance and user feedback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203CFEF-1658-6E4D-ECDF-9BDDE2FD2708}"/>
              </a:ext>
            </a:extLst>
          </p:cNvPr>
          <p:cNvSpPr/>
          <p:nvPr/>
        </p:nvSpPr>
        <p:spPr>
          <a:xfrm>
            <a:off x="10429614" y="2295525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2877E0-36ED-3215-33FB-B50854150D5D}"/>
              </a:ext>
            </a:extLst>
          </p:cNvPr>
          <p:cNvSpPr txBox="1"/>
          <p:nvPr/>
        </p:nvSpPr>
        <p:spPr>
          <a:xfrm>
            <a:off x="10429614" y="2295525"/>
            <a:ext cx="47623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41075A4-2F67-8806-E5C9-C18221F2BFA6}"/>
              </a:ext>
            </a:extLst>
          </p:cNvPr>
          <p:cNvSpPr/>
          <p:nvPr/>
        </p:nvSpPr>
        <p:spPr>
          <a:xfrm>
            <a:off x="10191495" y="2886075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651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D13618CA-CFE5-BAD6-1E7F-3B23328D9EB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77238" y="3171825"/>
            <a:ext cx="380990" cy="38099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8C8AFDE-1FB3-493E-F315-4DEC02DAB773}"/>
              </a:ext>
            </a:extLst>
          </p:cNvPr>
          <p:cNvSpPr txBox="1"/>
          <p:nvPr/>
        </p:nvSpPr>
        <p:spPr>
          <a:xfrm>
            <a:off x="10172445" y="3981449"/>
            <a:ext cx="98105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9376D"/>
                </a:solidFill>
              </a:rPr>
              <a:t>Fine Tune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93225B-282E-CD37-B270-E2D92E7DF279}"/>
              </a:ext>
            </a:extLst>
          </p:cNvPr>
          <p:cNvSpPr txBox="1"/>
          <p:nvPr/>
        </p:nvSpPr>
        <p:spPr>
          <a:xfrm>
            <a:off x="9810504" y="4343400"/>
            <a:ext cx="1714457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Optimize based on insights and data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7397D8C-DFC3-26C9-FBEF-33E250E3FE6D}"/>
              </a:ext>
            </a:extLst>
          </p:cNvPr>
          <p:cNvSpPr/>
          <p:nvPr/>
        </p:nvSpPr>
        <p:spPr>
          <a:xfrm>
            <a:off x="2047823" y="5505450"/>
            <a:ext cx="2381190" cy="457200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>
            <a:extLst>
              <a:ext uri="{FF2B5EF4-FFF2-40B4-BE49-F238E27FC236}">
                <a16:creationId xmlns:a16="http://schemas.microsoft.com/office/drawing/2014/main" id="{8FA59926-ACDB-9A4F-EB00-66891C70430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38319" y="5638799"/>
            <a:ext cx="142871" cy="19049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44AE558-5E35-2F3C-0CA2-3C0BA90E32FF}"/>
              </a:ext>
            </a:extLst>
          </p:cNvPr>
          <p:cNvSpPr txBox="1"/>
          <p:nvPr/>
        </p:nvSpPr>
        <p:spPr>
          <a:xfrm>
            <a:off x="2476438" y="5619750"/>
            <a:ext cx="176208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Iterative Development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3A1571FA-FDD0-21B7-75E6-64A42A73B5C6}"/>
              </a:ext>
            </a:extLst>
          </p:cNvPr>
          <p:cNvSpPr/>
          <p:nvPr/>
        </p:nvSpPr>
        <p:spPr>
          <a:xfrm>
            <a:off x="4714757" y="5505450"/>
            <a:ext cx="2447863" cy="457200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48E4F9E8-2AD8-AC10-E9AA-AF3E63E8B9C4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05252" y="5638799"/>
            <a:ext cx="238119" cy="19049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36F51AF1-45F0-B108-89EF-F309DEED5A4B}"/>
              </a:ext>
            </a:extLst>
          </p:cNvPr>
          <p:cNvSpPr txBox="1"/>
          <p:nvPr/>
        </p:nvSpPr>
        <p:spPr>
          <a:xfrm>
            <a:off x="5238619" y="5619750"/>
            <a:ext cx="173350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User-Centered Design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43A45158-0A6C-3FFA-DE25-65D47EF34F26}"/>
              </a:ext>
            </a:extLst>
          </p:cNvPr>
          <p:cNvSpPr/>
          <p:nvPr/>
        </p:nvSpPr>
        <p:spPr>
          <a:xfrm>
            <a:off x="7448363" y="5505450"/>
            <a:ext cx="2685982" cy="457200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image.png">
            <a:extLst>
              <a:ext uri="{FF2B5EF4-FFF2-40B4-BE49-F238E27FC236}">
                <a16:creationId xmlns:a16="http://schemas.microsoft.com/office/drawing/2014/main" id="{7A62E030-DDE6-04FF-F9EE-D98052F04072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638859" y="5638799"/>
            <a:ext cx="190495" cy="190499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E11C3B70-0327-D09B-B994-BB4047099E03}"/>
              </a:ext>
            </a:extLst>
          </p:cNvPr>
          <p:cNvSpPr txBox="1"/>
          <p:nvPr/>
        </p:nvSpPr>
        <p:spPr>
          <a:xfrm>
            <a:off x="7924601" y="5619750"/>
            <a:ext cx="201924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Data-Driven Optimization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648493C-3AB1-D270-6095-B30E74D2ED0C}"/>
              </a:ext>
            </a:extLst>
          </p:cNvPr>
          <p:cNvSpPr/>
          <p:nvPr/>
        </p:nvSpPr>
        <p:spPr>
          <a:xfrm>
            <a:off x="0" y="6343650"/>
            <a:ext cx="12191695" cy="514350"/>
          </a:xfrm>
          <a:prstGeom prst="rect">
            <a:avLst/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8795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406730" y="240303"/>
            <a:ext cx="3378234" cy="5671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FFFF"/>
                </a:solidFill>
              </a:rPr>
              <a:t>TECHNICAL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333500"/>
            <a:ext cx="512432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560"/>
              </a:spcAft>
            </a:pPr>
            <a:r>
              <a:rPr sz="1435" b="1">
                <a:solidFill>
                  <a:srgbClr val="1E3A8A"/>
                </a:solidFill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866899"/>
            <a:ext cx="2447863" cy="2495550"/>
          </a:xfrm>
          <a:prstGeom prst="roundRect">
            <a:avLst>
              <a:gd name="adj" fmla="val 93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7228" y="2057400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1525" y="2209800"/>
            <a:ext cx="333366" cy="2666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28" y="2771775"/>
            <a:ext cx="206687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9376D"/>
                </a:solidFill>
              </a:rPr>
              <a:t>Core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228" y="3505199"/>
            <a:ext cx="1047723" cy="295274"/>
          </a:xfrm>
          <a:prstGeom prst="roundRect">
            <a:avLst>
              <a:gd name="adj" fmla="val 129032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7228" y="3505199"/>
            <a:ext cx="104772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Copilot Studio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1150" y="3505199"/>
            <a:ext cx="457188" cy="295274"/>
          </a:xfrm>
          <a:prstGeom prst="roundRect">
            <a:avLst>
              <a:gd name="adj" fmla="val 129032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1150" y="3505199"/>
            <a:ext cx="457188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NLP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3876674"/>
            <a:ext cx="1295367" cy="295274"/>
          </a:xfrm>
          <a:prstGeom prst="roundRect">
            <a:avLst>
              <a:gd name="adj" fmla="val 129032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7228" y="3876674"/>
            <a:ext cx="1295367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Intent Recognition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3191" y="1866899"/>
            <a:ext cx="2447863" cy="2495550"/>
          </a:xfrm>
          <a:prstGeom prst="roundRect">
            <a:avLst>
              <a:gd name="adj" fmla="val 93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33686" y="2057400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4657" y="2209800"/>
            <a:ext cx="200019" cy="2666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33686" y="2771775"/>
            <a:ext cx="206687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9376D"/>
                </a:solidFill>
              </a:rPr>
              <a:t>Data 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33686" y="3133724"/>
            <a:ext cx="1162020" cy="295274"/>
          </a:xfrm>
          <a:prstGeom prst="roundRect">
            <a:avLst>
              <a:gd name="adj" fmla="val 129032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33686" y="3133724"/>
            <a:ext cx="1162020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API Connections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33686" y="3505199"/>
            <a:ext cx="1066773" cy="295274"/>
          </a:xfrm>
          <a:prstGeom prst="roundRect">
            <a:avLst>
              <a:gd name="adj" fmla="val 129032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33686" y="3505199"/>
            <a:ext cx="106677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Real-time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3686" y="3876674"/>
            <a:ext cx="1314417" cy="295274"/>
          </a:xfrm>
          <a:prstGeom prst="roundRect">
            <a:avLst>
              <a:gd name="adj" fmla="val 129032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33686" y="3876674"/>
            <a:ext cx="1314417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University Systems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4591050"/>
            <a:ext cx="2447863" cy="2124075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7228" y="4781549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1525" y="4933950"/>
            <a:ext cx="333366" cy="2666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7228" y="5495924"/>
            <a:ext cx="206687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9376D"/>
                </a:solidFill>
              </a:rPr>
              <a:t>Deployment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228" y="5857875"/>
            <a:ext cx="952476" cy="295274"/>
          </a:xfrm>
          <a:prstGeom prst="roundRect">
            <a:avLst>
              <a:gd name="adj" fmla="val 129032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7228" y="5857875"/>
            <a:ext cx="952476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Cloud-based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85902" y="5857875"/>
            <a:ext cx="828654" cy="295274"/>
          </a:xfrm>
          <a:prstGeom prst="roundRect">
            <a:avLst>
              <a:gd name="adj" fmla="val 129032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5902" y="5857875"/>
            <a:ext cx="82865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Scalability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7228" y="6229350"/>
            <a:ext cx="809604" cy="295274"/>
          </a:xfrm>
          <a:prstGeom prst="roundRect">
            <a:avLst>
              <a:gd name="adj" fmla="val 129032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7228" y="6229350"/>
            <a:ext cx="80960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Reliability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43191" y="4591050"/>
            <a:ext cx="2447863" cy="2124075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533686" y="4781549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6082" y="4933950"/>
            <a:ext cx="266693" cy="26669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533686" y="5495924"/>
            <a:ext cx="206687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9376D"/>
                </a:solidFill>
              </a:rPr>
              <a:t>Security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33686" y="5857875"/>
            <a:ext cx="857228" cy="295274"/>
          </a:xfrm>
          <a:prstGeom prst="roundRect">
            <a:avLst>
              <a:gd name="adj" fmla="val 129032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33686" y="5857875"/>
            <a:ext cx="857228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Encryption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67113" y="5857875"/>
            <a:ext cx="904852" cy="295274"/>
          </a:xfrm>
          <a:prstGeom prst="roundRect">
            <a:avLst>
              <a:gd name="adj" fmla="val 129032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67113" y="5857875"/>
            <a:ext cx="904852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Compliance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33686" y="6229350"/>
            <a:ext cx="1123921" cy="295274"/>
          </a:xfrm>
          <a:prstGeom prst="roundRect">
            <a:avLst>
              <a:gd name="adj" fmla="val 129032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533686" y="6229350"/>
            <a:ext cx="1123921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Data Protection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639" y="1333500"/>
            <a:ext cx="512432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560"/>
              </a:spcAft>
            </a:pPr>
            <a:r>
              <a:rPr sz="1435" b="1">
                <a:solidFill>
                  <a:srgbClr val="1E3A8A"/>
                </a:solidFill>
              </a:rPr>
              <a:t>System Architecture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48443" y="3057525"/>
            <a:ext cx="1428714" cy="14287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24681" y="3429000"/>
            <a:ext cx="476238" cy="38099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562760" y="3886200"/>
            <a:ext cx="80007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Admira SEID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91315" y="2057400"/>
            <a:ext cx="1142971" cy="828675"/>
          </a:xfrm>
          <a:prstGeom prst="roundRect">
            <a:avLst>
              <a:gd name="adj" fmla="val 229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48503" y="2200275"/>
            <a:ext cx="238119" cy="26669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705632" y="2543175"/>
            <a:ext cx="514337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Students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91495" y="3352800"/>
            <a:ext cx="1142971" cy="828675"/>
          </a:xfrm>
          <a:prstGeom prst="roundRect">
            <a:avLst>
              <a:gd name="adj" fmla="val 229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91535" y="3505199"/>
            <a:ext cx="333366" cy="26669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315615" y="3811215"/>
            <a:ext cx="894733" cy="27379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37" b="1" dirty="0">
                <a:solidFill>
                  <a:srgbClr val="19376D"/>
                </a:solidFill>
              </a:rPr>
              <a:t>          </a:t>
            </a:r>
            <a:r>
              <a:rPr sz="837" b="1" dirty="0">
                <a:solidFill>
                  <a:srgbClr val="19376D"/>
                </a:solidFill>
              </a:rPr>
              <a:t>Admissions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91315" y="4657725"/>
            <a:ext cx="1142971" cy="828675"/>
          </a:xfrm>
          <a:prstGeom prst="roundRect">
            <a:avLst>
              <a:gd name="adj" fmla="val 229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829454" y="4800600"/>
            <a:ext cx="266693" cy="26669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753256" y="5143500"/>
            <a:ext cx="41908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Results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91135" y="3352800"/>
            <a:ext cx="1142971" cy="828675"/>
          </a:xfrm>
          <a:prstGeom prst="roundRect">
            <a:avLst>
              <a:gd name="adj" fmla="val 229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10224" y="3505199"/>
            <a:ext cx="304792" cy="26669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819729" y="3811215"/>
            <a:ext cx="581010" cy="27379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 dirty="0">
                <a:solidFill>
                  <a:srgbClr val="19376D"/>
                </a:solidFill>
              </a:rPr>
              <a:t>Housing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29514" y="2819399"/>
            <a:ext cx="1142971" cy="828675"/>
          </a:xfrm>
          <a:prstGeom prst="roundRect">
            <a:avLst>
              <a:gd name="adj" fmla="val 229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848603" y="2962274"/>
            <a:ext cx="304792" cy="26669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715257" y="3305174"/>
            <a:ext cx="561960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Payments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53116" y="2819399"/>
            <a:ext cx="1142971" cy="828675"/>
          </a:xfrm>
          <a:prstGeom prst="roundRect">
            <a:avLst>
              <a:gd name="adj" fmla="val 229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791255" y="2962274"/>
            <a:ext cx="266693" cy="26669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686482" y="3305174"/>
            <a:ext cx="46671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Support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29514" y="3895724"/>
            <a:ext cx="1142971" cy="828675"/>
          </a:xfrm>
          <a:prstGeom prst="roundRect">
            <a:avLst>
              <a:gd name="adj" fmla="val 229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886702" y="4038599"/>
            <a:ext cx="238119" cy="266699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705732" y="4381499"/>
            <a:ext cx="59053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Databases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53116" y="3895724"/>
            <a:ext cx="1142971" cy="828675"/>
          </a:xfrm>
          <a:prstGeom prst="roundRect">
            <a:avLst>
              <a:gd name="adj" fmla="val 229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753156" y="4038599"/>
            <a:ext cx="333366" cy="26669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505512" y="4381499"/>
            <a:ext cx="83817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76D"/>
                </a:solidFill>
              </a:rPr>
              <a:t>Cloud Services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7000875"/>
            <a:ext cx="12191695" cy="514350"/>
          </a:xfrm>
          <a:prstGeom prst="rect">
            <a:avLst/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6733" y="7143750"/>
            <a:ext cx="368608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Admira: Student Enquiry and Information Help Desk Agent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34226" y="7143750"/>
            <a:ext cx="259073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an autonomous agent befitting logo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1494"/>
          </a:xfrm>
          <a:prstGeom prst="rect">
            <a:avLst/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69525" y="-56956"/>
            <a:ext cx="1965154" cy="8494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KEY FEATURES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91510" y="410435"/>
            <a:ext cx="3556230" cy="31316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950"/>
              </a:spcAft>
            </a:pPr>
            <a:r>
              <a:rPr sz="1315" b="1" dirty="0">
                <a:solidFill>
                  <a:schemeClr val="bg1"/>
                </a:solidFill>
              </a:rPr>
              <a:t>Powerful Capabilities Driving Student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511" y="986116"/>
            <a:ext cx="3428914" cy="262890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78630" y="1224241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3402" y="1349309"/>
            <a:ext cx="266693" cy="2261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97739" y="1329017"/>
            <a:ext cx="16001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9376D"/>
                </a:solidFill>
              </a:rPr>
              <a:t>Conversational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630" y="1855770"/>
            <a:ext cx="2952676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0" dirty="0">
                <a:solidFill>
                  <a:srgbClr val="555555"/>
                </a:solidFill>
              </a:rPr>
              <a:t>Natural language understanding for intuitive, human-like interactions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8630" y="2424391"/>
            <a:ext cx="2952676" cy="952499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927" y="2552699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78670" y="2538691"/>
            <a:ext cx="178113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Understands </a:t>
            </a:r>
            <a:r>
              <a:rPr sz="956" b="1">
                <a:solidFill>
                  <a:srgbClr val="19376D"/>
                </a:solidFill>
              </a:rPr>
              <a:t>casual queries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927" y="2819399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78670" y="2805392"/>
            <a:ext cx="186685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Supports </a:t>
            </a:r>
            <a:r>
              <a:rPr sz="956" b="1">
                <a:solidFill>
                  <a:srgbClr val="19376D"/>
                </a:solidFill>
              </a:rPr>
              <a:t>multiple languages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927" y="3086099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78670" y="3072091"/>
            <a:ext cx="194305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Adapts to </a:t>
            </a:r>
            <a:r>
              <a:rPr sz="956" b="1">
                <a:solidFill>
                  <a:srgbClr val="19376D"/>
                </a:solidFill>
              </a:rPr>
              <a:t>student preferences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5168" y="986116"/>
            <a:ext cx="3428914" cy="262890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93287" y="1224241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8059" y="1358006"/>
            <a:ext cx="266693" cy="20872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12397" y="1329017"/>
            <a:ext cx="192400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9376D"/>
                </a:solidFill>
              </a:rPr>
              <a:t>Multi-Step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287" y="1933788"/>
            <a:ext cx="2952676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0" dirty="0">
                <a:solidFill>
                  <a:srgbClr val="555555"/>
                </a:solidFill>
              </a:rPr>
              <a:t>Guided processes for complex tasks like accommodation booking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93287" y="2424391"/>
            <a:ext cx="2952676" cy="952499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584" y="2552699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93327" y="2538691"/>
            <a:ext cx="144776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Step-by-step</a:t>
            </a:r>
            <a:r>
              <a:rPr sz="956" b="0">
                <a:solidFill>
                  <a:srgbClr val="555555"/>
                </a:solidFill>
              </a:rPr>
              <a:t> guidance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584" y="2819399"/>
            <a:ext cx="190495" cy="162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93327" y="2805392"/>
            <a:ext cx="143823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Form filling</a:t>
            </a:r>
            <a:r>
              <a:rPr sz="956" b="0">
                <a:solidFill>
                  <a:srgbClr val="555555"/>
                </a:solidFill>
              </a:rPr>
              <a:t> assistance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584" y="3086099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93327" y="3072091"/>
            <a:ext cx="23240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Progress tracking</a:t>
            </a:r>
            <a:r>
              <a:rPr sz="956" b="0">
                <a:solidFill>
                  <a:srgbClr val="555555"/>
                </a:solidFill>
              </a:rPr>
              <a:t> for long processes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9825" y="986116"/>
            <a:ext cx="3428914" cy="262890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07944" y="1224241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12717" y="1337713"/>
            <a:ext cx="266693" cy="24930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27054" y="1329017"/>
            <a:ext cx="19621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9376D"/>
                </a:solidFill>
              </a:rPr>
              <a:t>Dynamic Data Lookup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7944" y="1969473"/>
            <a:ext cx="2952676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0" dirty="0">
                <a:solidFill>
                  <a:srgbClr val="555555"/>
                </a:solidFill>
              </a:rPr>
              <a:t>Real-time access to university databases for instant information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07944" y="2424391"/>
            <a:ext cx="2952676" cy="952499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2241" y="2552699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707984" y="2538691"/>
            <a:ext cx="186685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Live admission status</a:t>
            </a:r>
            <a:r>
              <a:rPr sz="956" b="0">
                <a:solidFill>
                  <a:srgbClr val="555555"/>
                </a:solidFill>
              </a:rPr>
              <a:t> checks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2241" y="2819399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07984" y="2805392"/>
            <a:ext cx="153348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Current results</a:t>
            </a:r>
            <a:r>
              <a:rPr sz="956" b="0">
                <a:solidFill>
                  <a:srgbClr val="555555"/>
                </a:solidFill>
              </a:rPr>
              <a:t> retrieval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2241" y="3086099"/>
            <a:ext cx="190495" cy="16248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707984" y="3072091"/>
            <a:ext cx="173350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Real-time room</a:t>
            </a:r>
            <a:r>
              <a:rPr sz="956" b="0">
                <a:solidFill>
                  <a:srgbClr val="555555"/>
                </a:solidFill>
              </a:rPr>
              <a:t> availability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97839" y="3900766"/>
            <a:ext cx="3428914" cy="2819399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735958" y="4138892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40731" y="4272656"/>
            <a:ext cx="266693" cy="208721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355068" y="4243666"/>
            <a:ext cx="170493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9376D"/>
                </a:solidFill>
              </a:rPr>
              <a:t>Context Awareness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35958" y="4784988"/>
            <a:ext cx="3190795" cy="44191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0" dirty="0">
                <a:solidFill>
                  <a:srgbClr val="555555"/>
                </a:solidFill>
              </a:rPr>
              <a:t>Remembers conversation history for coherent, personalized interactions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35958" y="5339042"/>
            <a:ext cx="2952676" cy="114300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0256" y="5562599"/>
            <a:ext cx="190495" cy="16248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135998" y="5453342"/>
            <a:ext cx="2438339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Remembers student ID</a:t>
            </a:r>
            <a:r>
              <a:rPr sz="956" b="0">
                <a:solidFill>
                  <a:srgbClr val="555555"/>
                </a:solidFill>
              </a:rPr>
              <a:t> across sessions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0256" y="5924549"/>
            <a:ext cx="190495" cy="16248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135998" y="5910542"/>
            <a:ext cx="214307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Understands </a:t>
            </a:r>
            <a:r>
              <a:rPr sz="956" b="1">
                <a:solidFill>
                  <a:srgbClr val="19376D"/>
                </a:solidFill>
              </a:rPr>
              <a:t>follow-up questions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0256" y="6191249"/>
            <a:ext cx="190495" cy="16248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135998" y="6177242"/>
            <a:ext cx="211449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Provides </a:t>
            </a:r>
            <a:r>
              <a:rPr sz="956" b="1">
                <a:solidFill>
                  <a:srgbClr val="19376D"/>
                </a:solidFill>
              </a:rPr>
              <a:t>personalized responses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2497" y="3900766"/>
            <a:ext cx="3428914" cy="2819399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450616" y="4138892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55388" y="4272656"/>
            <a:ext cx="266693" cy="20872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069725" y="4243666"/>
            <a:ext cx="152396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9376D"/>
                </a:solidFill>
              </a:rPr>
              <a:t>Smart Escalation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50616" y="4909548"/>
            <a:ext cx="2952676" cy="44191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0" dirty="0">
                <a:solidFill>
                  <a:srgbClr val="555555"/>
                </a:solidFill>
              </a:rPr>
              <a:t>Seamless handoff to human agents for complex issues and complaints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50616" y="5339042"/>
            <a:ext cx="2952676" cy="114300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4913" y="5562599"/>
            <a:ext cx="190495" cy="16248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850656" y="5453342"/>
            <a:ext cx="2438339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Automatic detection</a:t>
            </a:r>
            <a:r>
              <a:rPr sz="956" b="0">
                <a:solidFill>
                  <a:srgbClr val="555555"/>
                </a:solidFill>
              </a:rPr>
              <a:t> of complex queries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4913" y="5924549"/>
            <a:ext cx="190495" cy="16248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850656" y="5910542"/>
            <a:ext cx="21621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Context transfer</a:t>
            </a:r>
            <a:r>
              <a:rPr sz="956" b="0">
                <a:solidFill>
                  <a:srgbClr val="555555"/>
                </a:solidFill>
              </a:rPr>
              <a:t> to human agents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4913" y="6191249"/>
            <a:ext cx="190495" cy="16248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0656" y="6177242"/>
            <a:ext cx="214307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Priority queuing</a:t>
            </a:r>
            <a:r>
              <a:rPr sz="956" b="0">
                <a:solidFill>
                  <a:srgbClr val="555555"/>
                </a:solidFill>
              </a:rPr>
              <a:t> for urgent issues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58576" y="284418"/>
            <a:ext cx="2074543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FFFF"/>
                </a:solidFill>
              </a:rP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428750"/>
            <a:ext cx="1085822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950"/>
              </a:spcAft>
            </a:pPr>
            <a:r>
              <a:rPr sz="1315" b="1">
                <a:solidFill>
                  <a:srgbClr val="19376D"/>
                </a:solidFill>
              </a:rPr>
              <a:t>Seamless Interaction Flow for Every Student 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981199"/>
            <a:ext cx="5314817" cy="3267075"/>
          </a:xfrm>
          <a:prstGeom prst="roundRect">
            <a:avLst>
              <a:gd name="adj" fmla="val 58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7228" y="21717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62000" y="2305464"/>
            <a:ext cx="266693" cy="2087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76338" y="2276474"/>
            <a:ext cx="21335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9376D"/>
                </a:solidFill>
              </a:rPr>
              <a:t>Admission Status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228" y="29241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7228" y="2924175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219" y="2924175"/>
            <a:ext cx="455283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Student Initiates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19" y="3181350"/>
            <a:ext cx="455283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"Check my admission status"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348615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7228" y="3486150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19" y="3486150"/>
            <a:ext cx="455283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19" y="3743325"/>
            <a:ext cx="455283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Admira requests </a:t>
            </a:r>
            <a:r>
              <a:rPr sz="956" b="1">
                <a:solidFill>
                  <a:srgbClr val="3A5BA0"/>
                </a:solidFill>
              </a:rPr>
              <a:t>student ID</a:t>
            </a:r>
            <a:r>
              <a:rPr sz="956" b="0">
                <a:solidFill>
                  <a:srgbClr val="555555"/>
                </a:solidFill>
              </a:rPr>
              <a:t> and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228" y="404812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7228" y="4048124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19" y="4048124"/>
            <a:ext cx="455283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Data 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19" y="4305300"/>
            <a:ext cx="455283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Accesses </a:t>
            </a:r>
            <a:r>
              <a:rPr sz="956" b="1">
                <a:solidFill>
                  <a:srgbClr val="3A5BA0"/>
                </a:solidFill>
              </a:rPr>
              <a:t>admissions 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228" y="461009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7228" y="4610099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19" y="4610099"/>
            <a:ext cx="455283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Status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19" y="4867274"/>
            <a:ext cx="455283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Provides </a:t>
            </a:r>
            <a:r>
              <a:rPr sz="956" b="1">
                <a:solidFill>
                  <a:srgbClr val="3A5BA0"/>
                </a:solidFill>
              </a:rPr>
              <a:t>current status</a:t>
            </a:r>
            <a:r>
              <a:rPr sz="956" b="0">
                <a:solidFill>
                  <a:srgbClr val="555555"/>
                </a:solidFill>
              </a:rPr>
              <a:t> and next steps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0144" y="1981199"/>
            <a:ext cx="5314817" cy="3267075"/>
          </a:xfrm>
          <a:prstGeom prst="roundRect">
            <a:avLst>
              <a:gd name="adj" fmla="val 58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639" y="21717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4937" y="2305464"/>
            <a:ext cx="266693" cy="20872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29274" y="2276474"/>
            <a:ext cx="124774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9376D"/>
                </a:solidFill>
              </a:rPr>
              <a:t>Results Check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639" y="29241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639" y="2924175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1630" y="2924175"/>
            <a:ext cx="455283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Student Query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1630" y="3181350"/>
            <a:ext cx="455283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"Show my semester results"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639" y="348615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639" y="3486150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1630" y="3486150"/>
            <a:ext cx="455283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1630" y="3743325"/>
            <a:ext cx="455283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Confirms </a:t>
            </a:r>
            <a:r>
              <a:rPr sz="956" b="1">
                <a:solidFill>
                  <a:srgbClr val="3A5BA0"/>
                </a:solidFill>
              </a:rPr>
              <a:t>student identity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639" y="404812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639" y="4048124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1630" y="4048124"/>
            <a:ext cx="455283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Results 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1630" y="4305300"/>
            <a:ext cx="455283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Retrieves </a:t>
            </a:r>
            <a:r>
              <a:rPr sz="956" b="1">
                <a:solidFill>
                  <a:srgbClr val="3A5BA0"/>
                </a:solidFill>
              </a:rPr>
              <a:t>academic records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639" y="461009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639" y="4610099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1630" y="4610099"/>
            <a:ext cx="455283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Results Display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1630" y="4867274"/>
            <a:ext cx="455283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Shows </a:t>
            </a:r>
            <a:r>
              <a:rPr sz="956" b="1">
                <a:solidFill>
                  <a:srgbClr val="3A5BA0"/>
                </a:solidFill>
              </a:rPr>
              <a:t>grades and GPA</a:t>
            </a:r>
            <a:r>
              <a:rPr sz="956" b="0">
                <a:solidFill>
                  <a:srgbClr val="555555"/>
                </a:solidFill>
              </a:rPr>
              <a:t> with analysis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9191624"/>
            <a:ext cx="12191695" cy="476249"/>
          </a:xfrm>
          <a:prstGeom prst="rect">
            <a:avLst/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66733" y="9334499"/>
            <a:ext cx="368608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Admira: Student Enquiry and Information Help Desk Agent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24661" y="9334499"/>
            <a:ext cx="300029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[Your Company Logo] | www.yourcompany.com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F5A8DE-D94C-4BF9-7AAE-DD30605A0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982EAF-7848-8327-19EC-27C6499A0F1A}"/>
              </a:ext>
            </a:extLst>
          </p:cNvPr>
          <p:cNvSpPr/>
          <p:nvPr/>
        </p:nvSpPr>
        <p:spPr>
          <a:xfrm>
            <a:off x="0" y="9331"/>
            <a:ext cx="12191695" cy="1047749"/>
          </a:xfrm>
          <a:prstGeom prst="rect">
            <a:avLst/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3906D-37F5-5F48-0CF4-FEE144EA2AA3}"/>
              </a:ext>
            </a:extLst>
          </p:cNvPr>
          <p:cNvSpPr txBox="1"/>
          <p:nvPr/>
        </p:nvSpPr>
        <p:spPr>
          <a:xfrm>
            <a:off x="5058576" y="284418"/>
            <a:ext cx="2074543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FFFF"/>
                </a:solidFill>
              </a:rPr>
              <a:t>USER JOURNEY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666D1-0AA1-0534-824E-FE68E57F9314}"/>
              </a:ext>
            </a:extLst>
          </p:cNvPr>
          <p:cNvSpPr txBox="1"/>
          <p:nvPr/>
        </p:nvSpPr>
        <p:spPr>
          <a:xfrm>
            <a:off x="666733" y="1428750"/>
            <a:ext cx="1085822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950"/>
              </a:spcAft>
            </a:pPr>
            <a:r>
              <a:rPr sz="1315" b="1">
                <a:solidFill>
                  <a:srgbClr val="19376D"/>
                </a:solidFill>
              </a:rPr>
              <a:t>Seamless Interaction Flow for Every Student Need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AD94FCC-AA0F-3603-75FA-89780A67D59A}"/>
              </a:ext>
            </a:extLst>
          </p:cNvPr>
          <p:cNvSpPr/>
          <p:nvPr/>
        </p:nvSpPr>
        <p:spPr>
          <a:xfrm>
            <a:off x="657208" y="2457449"/>
            <a:ext cx="3457488" cy="3324225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732A727-F04A-F246-B183-AC483579DB67}"/>
              </a:ext>
            </a:extLst>
          </p:cNvPr>
          <p:cNvSpPr/>
          <p:nvPr/>
        </p:nvSpPr>
        <p:spPr>
          <a:xfrm>
            <a:off x="847703" y="264794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A3AF1BBF-2B5A-58DB-EFBF-0CFC1109A5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2475" y="2786061"/>
            <a:ext cx="266693" cy="20002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E8E1A4D7-3532-3529-2B9C-3AD0A0328098}"/>
              </a:ext>
            </a:extLst>
          </p:cNvPr>
          <p:cNvSpPr txBox="1"/>
          <p:nvPr/>
        </p:nvSpPr>
        <p:spPr>
          <a:xfrm>
            <a:off x="1466813" y="2752723"/>
            <a:ext cx="225736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9376D"/>
                </a:solidFill>
              </a:rPr>
              <a:t>Accommodation Booking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E94943ED-E42B-D33A-D3F0-7D8FDD2EFBD8}"/>
              </a:ext>
            </a:extLst>
          </p:cNvPr>
          <p:cNvSpPr/>
          <p:nvPr/>
        </p:nvSpPr>
        <p:spPr>
          <a:xfrm>
            <a:off x="847703" y="340042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7F1B49-DF65-AB13-2548-C2136FEAA1C3}"/>
              </a:ext>
            </a:extLst>
          </p:cNvPr>
          <p:cNvSpPr txBox="1"/>
          <p:nvPr/>
        </p:nvSpPr>
        <p:spPr>
          <a:xfrm>
            <a:off x="847703" y="3400424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DB329E-F2D1-93FF-032A-F68FC83B65F0}"/>
              </a:ext>
            </a:extLst>
          </p:cNvPr>
          <p:cNvSpPr txBox="1"/>
          <p:nvPr/>
        </p:nvSpPr>
        <p:spPr>
          <a:xfrm>
            <a:off x="1228694" y="3400424"/>
            <a:ext cx="269550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Request Initiated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5168CE-18CF-96DA-D431-18F9358A728A}"/>
              </a:ext>
            </a:extLst>
          </p:cNvPr>
          <p:cNvSpPr txBox="1"/>
          <p:nvPr/>
        </p:nvSpPr>
        <p:spPr>
          <a:xfrm>
            <a:off x="1228694" y="3657599"/>
            <a:ext cx="26955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555555"/>
                </a:solidFill>
              </a:rPr>
              <a:t>"I need to book a hostel room"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46891E81-1D07-60C4-6F4B-0D954564CD69}"/>
              </a:ext>
            </a:extLst>
          </p:cNvPr>
          <p:cNvSpPr/>
          <p:nvPr/>
        </p:nvSpPr>
        <p:spPr>
          <a:xfrm>
            <a:off x="847703" y="396239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EBABEE-CB60-DAB2-DC51-BAA0823FF516}"/>
              </a:ext>
            </a:extLst>
          </p:cNvPr>
          <p:cNvSpPr txBox="1"/>
          <p:nvPr/>
        </p:nvSpPr>
        <p:spPr>
          <a:xfrm>
            <a:off x="847703" y="3962399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885D36-4047-0E4B-80D9-3E4C3FDA5FFB}"/>
              </a:ext>
            </a:extLst>
          </p:cNvPr>
          <p:cNvSpPr txBox="1"/>
          <p:nvPr/>
        </p:nvSpPr>
        <p:spPr>
          <a:xfrm>
            <a:off x="1228694" y="3962399"/>
            <a:ext cx="269550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Preference Collection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EF5310-52E2-DDCE-EF5C-4BE37B4D2B32}"/>
              </a:ext>
            </a:extLst>
          </p:cNvPr>
          <p:cNvSpPr txBox="1"/>
          <p:nvPr/>
        </p:nvSpPr>
        <p:spPr>
          <a:xfrm>
            <a:off x="1228694" y="4219574"/>
            <a:ext cx="26955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Gathers </a:t>
            </a:r>
            <a:r>
              <a:rPr sz="956" b="1">
                <a:solidFill>
                  <a:srgbClr val="3A5BA0"/>
                </a:solidFill>
              </a:rPr>
              <a:t>room preferences</a:t>
            </a:r>
            <a:r>
              <a:rPr sz="956" b="0">
                <a:solidFill>
                  <a:srgbClr val="555555"/>
                </a:solidFill>
              </a:rPr>
              <a:t> and budget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A73E0CB8-79A4-411D-2C41-01309D2F656C}"/>
              </a:ext>
            </a:extLst>
          </p:cNvPr>
          <p:cNvSpPr/>
          <p:nvPr/>
        </p:nvSpPr>
        <p:spPr>
          <a:xfrm>
            <a:off x="847703" y="4524373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CBB4FE-8CE8-FADE-CE94-91E28284997D}"/>
              </a:ext>
            </a:extLst>
          </p:cNvPr>
          <p:cNvSpPr txBox="1"/>
          <p:nvPr/>
        </p:nvSpPr>
        <p:spPr>
          <a:xfrm>
            <a:off x="847703" y="4524373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FB5F64-C2CC-D691-FF32-0D5FAC9C4EE2}"/>
              </a:ext>
            </a:extLst>
          </p:cNvPr>
          <p:cNvSpPr txBox="1"/>
          <p:nvPr/>
        </p:nvSpPr>
        <p:spPr>
          <a:xfrm>
            <a:off x="1228694" y="4524373"/>
            <a:ext cx="269550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Availability Check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0813C7-EFC9-3135-B7BD-59259579A841}"/>
              </a:ext>
            </a:extLst>
          </p:cNvPr>
          <p:cNvSpPr txBox="1"/>
          <p:nvPr/>
        </p:nvSpPr>
        <p:spPr>
          <a:xfrm>
            <a:off x="1228694" y="4781548"/>
            <a:ext cx="26955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Displays </a:t>
            </a:r>
            <a:r>
              <a:rPr sz="956" b="1">
                <a:solidFill>
                  <a:srgbClr val="3A5BA0"/>
                </a:solidFill>
              </a:rPr>
              <a:t>available options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5A74103D-A977-BB21-1FE4-EB86397E54F4}"/>
              </a:ext>
            </a:extLst>
          </p:cNvPr>
          <p:cNvSpPr/>
          <p:nvPr/>
        </p:nvSpPr>
        <p:spPr>
          <a:xfrm>
            <a:off x="847703" y="508634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973097-3346-F3EB-3090-719EADC84B95}"/>
              </a:ext>
            </a:extLst>
          </p:cNvPr>
          <p:cNvSpPr txBox="1"/>
          <p:nvPr/>
        </p:nvSpPr>
        <p:spPr>
          <a:xfrm>
            <a:off x="847703" y="5086349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735441-E3BA-F7F2-F39D-A1A92544B5E0}"/>
              </a:ext>
            </a:extLst>
          </p:cNvPr>
          <p:cNvSpPr txBox="1"/>
          <p:nvPr/>
        </p:nvSpPr>
        <p:spPr>
          <a:xfrm>
            <a:off x="1228694" y="5086349"/>
            <a:ext cx="269550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Booking Confirmation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DF00D88-4499-DA75-FFC6-907E14D531B3}"/>
              </a:ext>
            </a:extLst>
          </p:cNvPr>
          <p:cNvSpPr txBox="1"/>
          <p:nvPr/>
        </p:nvSpPr>
        <p:spPr>
          <a:xfrm>
            <a:off x="1228694" y="5343524"/>
            <a:ext cx="26955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Completes </a:t>
            </a:r>
            <a:r>
              <a:rPr sz="956" b="1">
                <a:solidFill>
                  <a:srgbClr val="3A5BA0"/>
                </a:solidFill>
              </a:rPr>
              <a:t>reservation</a:t>
            </a:r>
            <a:r>
              <a:rPr sz="956" b="0">
                <a:solidFill>
                  <a:srgbClr val="555555"/>
                </a:solidFill>
              </a:rPr>
              <a:t> with details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D34D21DF-7FEF-3A20-3257-4BB2EC4E1834}"/>
              </a:ext>
            </a:extLst>
          </p:cNvPr>
          <p:cNvSpPr/>
          <p:nvPr/>
        </p:nvSpPr>
        <p:spPr>
          <a:xfrm>
            <a:off x="4352815" y="2457449"/>
            <a:ext cx="3457488" cy="3324225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DAE5099-E7D0-D9B4-4359-75182B61F858}"/>
              </a:ext>
            </a:extLst>
          </p:cNvPr>
          <p:cNvSpPr/>
          <p:nvPr/>
        </p:nvSpPr>
        <p:spPr>
          <a:xfrm>
            <a:off x="4543311" y="2676524"/>
            <a:ext cx="466713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7" name="Picture 66" descr="image.png">
            <a:extLst>
              <a:ext uri="{FF2B5EF4-FFF2-40B4-BE49-F238E27FC236}">
                <a16:creationId xmlns:a16="http://schemas.microsoft.com/office/drawing/2014/main" id="{D46944B3-75E2-ACEA-6BE0-2F18110332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083" y="2818984"/>
            <a:ext cx="266693" cy="191328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395C4B64-2495-ABF6-0551-4868BC939203}"/>
              </a:ext>
            </a:extLst>
          </p:cNvPr>
          <p:cNvSpPr txBox="1"/>
          <p:nvPr/>
        </p:nvSpPr>
        <p:spPr>
          <a:xfrm>
            <a:off x="5152895" y="2647949"/>
            <a:ext cx="2476438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9376D"/>
                </a:solidFill>
              </a:rPr>
              <a:t>Tuition &amp; Payment Enquiries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CEF0E80F-724D-58CC-F1FE-C7D8C18227EB}"/>
              </a:ext>
            </a:extLst>
          </p:cNvPr>
          <p:cNvSpPr/>
          <p:nvPr/>
        </p:nvSpPr>
        <p:spPr>
          <a:xfrm>
            <a:off x="4543311" y="345757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950F8DD-2219-76C4-4B2D-FCD3D732A2E0}"/>
              </a:ext>
            </a:extLst>
          </p:cNvPr>
          <p:cNvSpPr txBox="1"/>
          <p:nvPr/>
        </p:nvSpPr>
        <p:spPr>
          <a:xfrm>
            <a:off x="4543311" y="3457574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9145A7-36E6-7908-0790-422BD4A652CA}"/>
              </a:ext>
            </a:extLst>
          </p:cNvPr>
          <p:cNvSpPr txBox="1"/>
          <p:nvPr/>
        </p:nvSpPr>
        <p:spPr>
          <a:xfrm>
            <a:off x="4924301" y="3457574"/>
            <a:ext cx="269550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Payment Question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2D809B-EBB2-0868-F2BE-66AD7296AA9E}"/>
              </a:ext>
            </a:extLst>
          </p:cNvPr>
          <p:cNvSpPr txBox="1"/>
          <p:nvPr/>
        </p:nvSpPr>
        <p:spPr>
          <a:xfrm>
            <a:off x="4924301" y="3714749"/>
            <a:ext cx="26955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"How much is my tuition fee?"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42D6272B-DD5C-1596-7340-E44D97640CB3}"/>
              </a:ext>
            </a:extLst>
          </p:cNvPr>
          <p:cNvSpPr/>
          <p:nvPr/>
        </p:nvSpPr>
        <p:spPr>
          <a:xfrm>
            <a:off x="4543311" y="401954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7E3A56-69C4-3E05-F7A4-FC181232D91C}"/>
              </a:ext>
            </a:extLst>
          </p:cNvPr>
          <p:cNvSpPr txBox="1"/>
          <p:nvPr/>
        </p:nvSpPr>
        <p:spPr>
          <a:xfrm>
            <a:off x="4543311" y="4019549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799DD05-9173-9F9A-792C-1D4627C97460}"/>
              </a:ext>
            </a:extLst>
          </p:cNvPr>
          <p:cNvSpPr txBox="1"/>
          <p:nvPr/>
        </p:nvSpPr>
        <p:spPr>
          <a:xfrm>
            <a:off x="4924301" y="4019549"/>
            <a:ext cx="269550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Student Verification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6F2EE5A-9B21-C3D4-B353-8B6FF28EBC2C}"/>
              </a:ext>
            </a:extLst>
          </p:cNvPr>
          <p:cNvSpPr txBox="1"/>
          <p:nvPr/>
        </p:nvSpPr>
        <p:spPr>
          <a:xfrm>
            <a:off x="4924301" y="4276724"/>
            <a:ext cx="26955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Identifies </a:t>
            </a:r>
            <a:r>
              <a:rPr sz="956" b="1">
                <a:solidFill>
                  <a:srgbClr val="3A5BA0"/>
                </a:solidFill>
              </a:rPr>
              <a:t>student program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2E6965-F095-3398-4028-0D79843E8153}"/>
              </a:ext>
            </a:extLst>
          </p:cNvPr>
          <p:cNvSpPr/>
          <p:nvPr/>
        </p:nvSpPr>
        <p:spPr>
          <a:xfrm>
            <a:off x="4543311" y="4581523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51B0574-6ACB-4FB2-1C81-A2EBEA012D4B}"/>
              </a:ext>
            </a:extLst>
          </p:cNvPr>
          <p:cNvSpPr txBox="1"/>
          <p:nvPr/>
        </p:nvSpPr>
        <p:spPr>
          <a:xfrm>
            <a:off x="4543311" y="4581523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8353E1C-E38B-906B-BC92-558899DC456A}"/>
              </a:ext>
            </a:extLst>
          </p:cNvPr>
          <p:cNvSpPr txBox="1"/>
          <p:nvPr/>
        </p:nvSpPr>
        <p:spPr>
          <a:xfrm>
            <a:off x="4924301" y="4581523"/>
            <a:ext cx="269550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Fee Structure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7C49258-AE7B-E896-1BDB-6465A7A307EF}"/>
              </a:ext>
            </a:extLst>
          </p:cNvPr>
          <p:cNvSpPr txBox="1"/>
          <p:nvPr/>
        </p:nvSpPr>
        <p:spPr>
          <a:xfrm>
            <a:off x="4924301" y="4838698"/>
            <a:ext cx="26955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Provides </a:t>
            </a:r>
            <a:r>
              <a:rPr sz="956" b="1">
                <a:solidFill>
                  <a:srgbClr val="3A5BA0"/>
                </a:solidFill>
              </a:rPr>
              <a:t>detailed breakdown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8C8250D-D5E4-9BE6-14C5-96E3520F864A}"/>
              </a:ext>
            </a:extLst>
          </p:cNvPr>
          <p:cNvSpPr/>
          <p:nvPr/>
        </p:nvSpPr>
        <p:spPr>
          <a:xfrm>
            <a:off x="4543311" y="514349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2E30BB-C477-21AF-16E9-146F563CB8FA}"/>
              </a:ext>
            </a:extLst>
          </p:cNvPr>
          <p:cNvSpPr txBox="1"/>
          <p:nvPr/>
        </p:nvSpPr>
        <p:spPr>
          <a:xfrm>
            <a:off x="4543311" y="5143499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4993B5F-EC9C-C28E-0B65-1800BBBF382C}"/>
              </a:ext>
            </a:extLst>
          </p:cNvPr>
          <p:cNvSpPr txBox="1"/>
          <p:nvPr/>
        </p:nvSpPr>
        <p:spPr>
          <a:xfrm>
            <a:off x="4924301" y="5143499"/>
            <a:ext cx="269550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Payment Options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9112B54-E30E-B69A-BE31-9DA52C389C1D}"/>
              </a:ext>
            </a:extLst>
          </p:cNvPr>
          <p:cNvSpPr txBox="1"/>
          <p:nvPr/>
        </p:nvSpPr>
        <p:spPr>
          <a:xfrm>
            <a:off x="4924301" y="5400674"/>
            <a:ext cx="26955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Explains </a:t>
            </a:r>
            <a:r>
              <a:rPr sz="956" b="1">
                <a:solidFill>
                  <a:srgbClr val="3A5BA0"/>
                </a:solidFill>
              </a:rPr>
              <a:t>payment methods</a:t>
            </a:r>
            <a:r>
              <a:rPr sz="956" b="0">
                <a:solidFill>
                  <a:srgbClr val="555555"/>
                </a:solidFill>
              </a:rPr>
              <a:t> and deadlines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3EFADF3-B0BB-8150-A128-4536139CEF70}"/>
              </a:ext>
            </a:extLst>
          </p:cNvPr>
          <p:cNvSpPr/>
          <p:nvPr/>
        </p:nvSpPr>
        <p:spPr>
          <a:xfrm>
            <a:off x="8057948" y="2457449"/>
            <a:ext cx="3457488" cy="3324225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E4050610-6535-01EF-D841-9CE16C25F182}"/>
              </a:ext>
            </a:extLst>
          </p:cNvPr>
          <p:cNvSpPr/>
          <p:nvPr/>
        </p:nvSpPr>
        <p:spPr>
          <a:xfrm>
            <a:off x="8248443" y="264794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7" name="Picture 86" descr="image.png">
            <a:extLst>
              <a:ext uri="{FF2B5EF4-FFF2-40B4-BE49-F238E27FC236}">
                <a16:creationId xmlns:a16="http://schemas.microsoft.com/office/drawing/2014/main" id="{2EB8F762-7251-B418-E6CC-B05231C0108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3215" y="2781713"/>
            <a:ext cx="266693" cy="208721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A9DCCCB4-1FCF-D4EC-2C1B-ACCDB919B3C8}"/>
              </a:ext>
            </a:extLst>
          </p:cNvPr>
          <p:cNvSpPr txBox="1"/>
          <p:nvPr/>
        </p:nvSpPr>
        <p:spPr>
          <a:xfrm>
            <a:off x="8867553" y="2752723"/>
            <a:ext cx="234309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9376D"/>
                </a:solidFill>
              </a:rPr>
              <a:t>General Info &amp; Complaints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A47C5114-CF64-D86D-0D65-EF3254A6C526}"/>
              </a:ext>
            </a:extLst>
          </p:cNvPr>
          <p:cNvSpPr/>
          <p:nvPr/>
        </p:nvSpPr>
        <p:spPr>
          <a:xfrm>
            <a:off x="8248443" y="340042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50DC36E-DD07-E896-4E61-22306A5AC340}"/>
              </a:ext>
            </a:extLst>
          </p:cNvPr>
          <p:cNvSpPr txBox="1"/>
          <p:nvPr/>
        </p:nvSpPr>
        <p:spPr>
          <a:xfrm>
            <a:off x="8248443" y="3400424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94B61CF-B3F9-1576-4258-181107AA3E6A}"/>
              </a:ext>
            </a:extLst>
          </p:cNvPr>
          <p:cNvSpPr txBox="1"/>
          <p:nvPr/>
        </p:nvSpPr>
        <p:spPr>
          <a:xfrm>
            <a:off x="8629434" y="3400424"/>
            <a:ext cx="269550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Student Inquiry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8459D6-55CE-E153-A6C1-659E53E5E95A}"/>
              </a:ext>
            </a:extLst>
          </p:cNvPr>
          <p:cNvSpPr txBox="1"/>
          <p:nvPr/>
        </p:nvSpPr>
        <p:spPr>
          <a:xfrm>
            <a:off x="8629434" y="3657599"/>
            <a:ext cx="26955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"I have a complaint about..."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86DB21DA-5E01-228C-EF1C-AB8013F67B30}"/>
              </a:ext>
            </a:extLst>
          </p:cNvPr>
          <p:cNvSpPr/>
          <p:nvPr/>
        </p:nvSpPr>
        <p:spPr>
          <a:xfrm>
            <a:off x="8248443" y="396239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2049764-5B95-8801-45F9-0219D4E942E8}"/>
              </a:ext>
            </a:extLst>
          </p:cNvPr>
          <p:cNvSpPr txBox="1"/>
          <p:nvPr/>
        </p:nvSpPr>
        <p:spPr>
          <a:xfrm>
            <a:off x="8248443" y="3962399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473BCD6-C5D3-5387-DB2F-01C25FC30E3C}"/>
              </a:ext>
            </a:extLst>
          </p:cNvPr>
          <p:cNvSpPr txBox="1"/>
          <p:nvPr/>
        </p:nvSpPr>
        <p:spPr>
          <a:xfrm>
            <a:off x="8629434" y="3962399"/>
            <a:ext cx="269550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Issue Classification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F6550BF-B566-3954-FFF5-0E2156C189D5}"/>
              </a:ext>
            </a:extLst>
          </p:cNvPr>
          <p:cNvSpPr txBox="1"/>
          <p:nvPr/>
        </p:nvSpPr>
        <p:spPr>
          <a:xfrm>
            <a:off x="8629434" y="4219574"/>
            <a:ext cx="26955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Identifies </a:t>
            </a:r>
            <a:r>
              <a:rPr sz="956" b="1">
                <a:solidFill>
                  <a:srgbClr val="3A5BA0"/>
                </a:solidFill>
              </a:rPr>
              <a:t>complaint category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39A72DB3-8A38-36EC-85F4-859EF6180E70}"/>
              </a:ext>
            </a:extLst>
          </p:cNvPr>
          <p:cNvSpPr/>
          <p:nvPr/>
        </p:nvSpPr>
        <p:spPr>
          <a:xfrm>
            <a:off x="8248443" y="4524373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6E9A38B-EEE0-6936-C95E-2FE0B0494D8A}"/>
              </a:ext>
            </a:extLst>
          </p:cNvPr>
          <p:cNvSpPr txBox="1"/>
          <p:nvPr/>
        </p:nvSpPr>
        <p:spPr>
          <a:xfrm>
            <a:off x="8248443" y="4524373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E56406C-E3FC-56D7-2234-4D595B481AB4}"/>
              </a:ext>
            </a:extLst>
          </p:cNvPr>
          <p:cNvSpPr txBox="1"/>
          <p:nvPr/>
        </p:nvSpPr>
        <p:spPr>
          <a:xfrm>
            <a:off x="8629434" y="4524373"/>
            <a:ext cx="269550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Resolution Attempt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F4C2DF8-65F6-2011-AD85-B4D2B440B87F}"/>
              </a:ext>
            </a:extLst>
          </p:cNvPr>
          <p:cNvSpPr txBox="1"/>
          <p:nvPr/>
        </p:nvSpPr>
        <p:spPr>
          <a:xfrm>
            <a:off x="8629434" y="4781548"/>
            <a:ext cx="26955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Provides </a:t>
            </a:r>
            <a:r>
              <a:rPr sz="956" b="1">
                <a:solidFill>
                  <a:srgbClr val="3A5BA0"/>
                </a:solidFill>
              </a:rPr>
              <a:t>automated solution</a:t>
            </a:r>
            <a:r>
              <a:rPr sz="956" b="0">
                <a:solidFill>
                  <a:srgbClr val="555555"/>
                </a:solidFill>
              </a:rPr>
              <a:t> if possible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929EFB0F-9906-3916-B911-BD9258627C45}"/>
              </a:ext>
            </a:extLst>
          </p:cNvPr>
          <p:cNvSpPr/>
          <p:nvPr/>
        </p:nvSpPr>
        <p:spPr>
          <a:xfrm>
            <a:off x="8248443" y="508634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60F409F-B894-CF5D-3927-C5B0EB82723B}"/>
              </a:ext>
            </a:extLst>
          </p:cNvPr>
          <p:cNvSpPr txBox="1"/>
          <p:nvPr/>
        </p:nvSpPr>
        <p:spPr>
          <a:xfrm>
            <a:off x="8248443" y="5086349"/>
            <a:ext cx="2666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583B6AD-36D3-9B19-6B5B-EFA03AB6DB2E}"/>
              </a:ext>
            </a:extLst>
          </p:cNvPr>
          <p:cNvSpPr txBox="1"/>
          <p:nvPr/>
        </p:nvSpPr>
        <p:spPr>
          <a:xfrm>
            <a:off x="8629434" y="5086349"/>
            <a:ext cx="269550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9376D"/>
                </a:solidFill>
              </a:rPr>
              <a:t>Escalation (if needed)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F6A2FCB-76CD-2BEB-27BA-360B7E30CD3C}"/>
              </a:ext>
            </a:extLst>
          </p:cNvPr>
          <p:cNvSpPr txBox="1"/>
          <p:nvPr/>
        </p:nvSpPr>
        <p:spPr>
          <a:xfrm>
            <a:off x="8629434" y="5343524"/>
            <a:ext cx="26955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Connects to </a:t>
            </a:r>
            <a:r>
              <a:rPr sz="956" b="1">
                <a:solidFill>
                  <a:srgbClr val="3A5BA0"/>
                </a:solidFill>
              </a:rPr>
              <a:t>human agent</a:t>
            </a:r>
            <a:r>
              <a:rPr sz="956" b="0">
                <a:solidFill>
                  <a:srgbClr val="555555"/>
                </a:solidFill>
              </a:rPr>
              <a:t> with context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A910696-11A3-6E09-3CA5-970A36EC2F48}"/>
              </a:ext>
            </a:extLst>
          </p:cNvPr>
          <p:cNvSpPr/>
          <p:nvPr/>
        </p:nvSpPr>
        <p:spPr>
          <a:xfrm>
            <a:off x="-9525" y="6162673"/>
            <a:ext cx="12191695" cy="476249"/>
          </a:xfrm>
          <a:prstGeom prst="rect">
            <a:avLst/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CF82D68-6E59-3464-AA69-A37A944A4692}"/>
              </a:ext>
            </a:extLst>
          </p:cNvPr>
          <p:cNvSpPr txBox="1"/>
          <p:nvPr/>
        </p:nvSpPr>
        <p:spPr>
          <a:xfrm>
            <a:off x="657208" y="6305548"/>
            <a:ext cx="368608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Admira: Student Enquiry and Information Help Desk Agent</a:t>
            </a:r>
          </a:p>
        </p:txBody>
      </p:sp>
    </p:spTree>
    <p:extLst>
      <p:ext uri="{BB962C8B-B14F-4D97-AF65-F5344CB8AC3E}">
        <p14:creationId xmlns:p14="http://schemas.microsoft.com/office/powerpoint/2010/main" val="2290939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71153" y="283810"/>
            <a:ext cx="3849388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FFFF"/>
                </a:solidFill>
              </a:rPr>
              <a:t>INTEGRATION &amp; SCALABILITY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453876"/>
            <a:ext cx="342891" cy="2926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496" y="1415983"/>
            <a:ext cx="2409764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 dirty="0">
                <a:solidFill>
                  <a:srgbClr val="19376D"/>
                </a:solidFill>
              </a:rPr>
              <a:t>Seamless Integration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2018471"/>
            <a:ext cx="266693" cy="2493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6298" y="1986542"/>
            <a:ext cx="4829054" cy="3131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19376D"/>
                </a:solidFill>
              </a:rPr>
              <a:t>University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98" y="2414812"/>
            <a:ext cx="4829054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Connects to LMS, student databases, and administrative systems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3028535"/>
            <a:ext cx="266693" cy="191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6298" y="2967617"/>
            <a:ext cx="4829054" cy="3131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19376D"/>
                </a:solidFill>
              </a:rPr>
              <a:t>Multi-Platform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298" y="3395886"/>
            <a:ext cx="4829054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555555"/>
                </a:solidFill>
              </a:rPr>
              <a:t>Compatible with web portals, mobile apps, and messaging platforms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3980621"/>
            <a:ext cx="266693" cy="2493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6298" y="3948693"/>
            <a:ext cx="4829054" cy="3131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19376D"/>
                </a:solidFill>
              </a:rPr>
              <a:t>API-First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298" y="4257900"/>
            <a:ext cx="4829054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RESTful APIs for easy integration with existing infrastructure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733" y="4889937"/>
            <a:ext cx="342891" cy="1832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52496" y="4797357"/>
            <a:ext cx="2447863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9376D"/>
                </a:solidFill>
              </a:rPr>
              <a:t>Enterprise Scalability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6733" y="5430285"/>
            <a:ext cx="266693" cy="1884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76298" y="5367918"/>
            <a:ext cx="4829054" cy="3131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19376D"/>
                </a:solidFill>
              </a:rPr>
              <a:t>High Volume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298" y="5677125"/>
            <a:ext cx="4829054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Manages peak loads during admission and result periods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6733" y="6148594"/>
            <a:ext cx="266693" cy="2377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6298" y="6110868"/>
            <a:ext cx="4829054" cy="3131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19376D"/>
                </a:solidFill>
              </a:rPr>
              <a:t>Modular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6298" y="6420075"/>
            <a:ext cx="4829054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Easy addition of new features and capabilities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6342" y="1438081"/>
            <a:ext cx="5238619" cy="5286149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62660" y="1919868"/>
            <a:ext cx="2685982" cy="3131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315" b="1">
                <a:solidFill>
                  <a:srgbClr val="19376D"/>
                </a:solidFill>
              </a:rPr>
              <a:t>Admira Integration Ecosystem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38919" y="2400300"/>
            <a:ext cx="1333466" cy="1333500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77058" y="2731168"/>
            <a:ext cx="457188" cy="36696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448463" y="3209858"/>
            <a:ext cx="904852" cy="27635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Admira SEID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00699" y="3981449"/>
            <a:ext cx="1142971" cy="1143000"/>
          </a:xfrm>
          <a:prstGeom prst="roundRect">
            <a:avLst>
              <a:gd name="adj" fmla="val 16666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00739" y="4267528"/>
            <a:ext cx="342891" cy="26604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00719" y="4633553"/>
            <a:ext cx="742931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Admissions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34166" y="3981449"/>
            <a:ext cx="1142971" cy="1143000"/>
          </a:xfrm>
          <a:prstGeom prst="roundRect">
            <a:avLst>
              <a:gd name="adj" fmla="val 16666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734206" y="4267528"/>
            <a:ext cx="342891" cy="26604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667533" y="4633553"/>
            <a:ext cx="607096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 dirty="0">
                <a:solidFill>
                  <a:srgbClr val="19376D"/>
                </a:solidFill>
              </a:rPr>
              <a:t>Results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67633" y="3981449"/>
            <a:ext cx="1142971" cy="1143000"/>
          </a:xfrm>
          <a:prstGeom prst="roundRect">
            <a:avLst>
              <a:gd name="adj" fmla="val 16666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067673" y="4273440"/>
            <a:ext cx="342891" cy="25421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972425" y="4633553"/>
            <a:ext cx="695307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 dirty="0">
                <a:solidFill>
                  <a:srgbClr val="19376D"/>
                </a:solidFill>
              </a:rPr>
              <a:t>Housing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00699" y="5314950"/>
            <a:ext cx="1142971" cy="1143000"/>
          </a:xfrm>
          <a:prstGeom prst="roundRect">
            <a:avLst>
              <a:gd name="adj" fmla="val 16666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00739" y="5612852"/>
            <a:ext cx="342891" cy="24239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248343" y="5967054"/>
            <a:ext cx="647683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Payments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34166" y="5314950"/>
            <a:ext cx="1142971" cy="1143000"/>
          </a:xfrm>
          <a:prstGeom prst="roundRect">
            <a:avLst>
              <a:gd name="adj" fmla="val 16666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734206" y="5608418"/>
            <a:ext cx="342891" cy="25126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772304" y="5967054"/>
            <a:ext cx="361941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 dirty="0">
                <a:solidFill>
                  <a:srgbClr val="19376D"/>
                </a:solidFill>
              </a:rPr>
              <a:t>LMS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67633" y="5314950"/>
            <a:ext cx="1142971" cy="1143000"/>
          </a:xfrm>
          <a:prstGeom prst="roundRect">
            <a:avLst>
              <a:gd name="adj" fmla="val 16666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067673" y="5601028"/>
            <a:ext cx="342891" cy="26604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15277" y="5967054"/>
            <a:ext cx="657208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Help Desk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6733" y="7462478"/>
            <a:ext cx="3686082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Admira: Student Enquiry and Information Help Desk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24661" y="7462478"/>
            <a:ext cx="3000299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[Your Company Logo] | www.yourcompany.com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1" y="240303"/>
            <a:ext cx="12191694" cy="56714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FFFF"/>
                </a:solidFill>
              </a:rPr>
              <a:t>MEASURABLE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5136" y="1205360"/>
            <a:ext cx="4721422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1300"/>
              </a:spcAft>
            </a:pPr>
            <a:r>
              <a:rPr b="1">
                <a:solidFill>
                  <a:srgbClr val="19376D"/>
                </a:solidFill>
              </a:rPr>
              <a:t>Driving Tangible Results Across Student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743075"/>
            <a:ext cx="5333866" cy="2152650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09604" y="18859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1981199"/>
            <a:ext cx="190495" cy="1904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5842" y="1906034"/>
            <a:ext cx="1237775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376D"/>
                </a:solidFill>
              </a:rPr>
              <a:t>Efficiency 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04" y="2339555"/>
            <a:ext cx="864276" cy="5596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325"/>
              </a:spcAft>
            </a:pPr>
            <a:r>
              <a:rPr sz="3200" b="1">
                <a:solidFill>
                  <a:srgbClr val="3A5BA0"/>
                </a:solidFill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04" y="2883701"/>
            <a:ext cx="2401555" cy="2809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555555"/>
                </a:solidFill>
              </a:rPr>
              <a:t>Reduction in manual query handling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604" y="3200400"/>
            <a:ext cx="5048123" cy="552450"/>
          </a:xfrm>
          <a:prstGeom prst="roundRect">
            <a:avLst>
              <a:gd name="adj" fmla="val 20689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802" y="3295650"/>
            <a:ext cx="133346" cy="1333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6298" y="3229981"/>
            <a:ext cx="1627305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</a:rPr>
              <a:t>Avg. response time: </a:t>
            </a:r>
            <a:r>
              <a:rPr sz="1000" b="1">
                <a:solidFill>
                  <a:srgbClr val="19376D"/>
                </a:solidFill>
              </a:rPr>
              <a:t>&lt; 30 sec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802" y="3524250"/>
            <a:ext cx="171445" cy="1333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04872" y="3458581"/>
            <a:ext cx="1640129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</a:rPr>
              <a:t>Staff hours saved: </a:t>
            </a:r>
            <a:r>
              <a:rPr sz="1000" b="1">
                <a:solidFill>
                  <a:srgbClr val="19376D"/>
                </a:solidFill>
              </a:rPr>
              <a:t>40+/week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095" y="1743075"/>
            <a:ext cx="5333866" cy="2152650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ounded Rectangle 16"/>
          <p:cNvSpPr/>
          <p:nvPr/>
        </p:nvSpPr>
        <p:spPr>
          <a:xfrm>
            <a:off x="6333966" y="18859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9689" y="1981199"/>
            <a:ext cx="219069" cy="19049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10204" y="1906034"/>
            <a:ext cx="1064907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376D"/>
                </a:solidFill>
              </a:rPr>
              <a:t>Cost Savings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966" y="2339555"/>
            <a:ext cx="864276" cy="5596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325"/>
              </a:spcAft>
            </a:pPr>
            <a:r>
              <a:rPr sz="3200" b="1">
                <a:solidFill>
                  <a:srgbClr val="3A5BA0"/>
                </a:solidFill>
              </a:rPr>
              <a:t>45%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966" y="2883701"/>
            <a:ext cx="2981842" cy="2809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</a:rPr>
              <a:t>Reduction in operational costs for helpdesk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3966" y="3200400"/>
            <a:ext cx="5048123" cy="552450"/>
          </a:xfrm>
          <a:prstGeom prst="roundRect">
            <a:avLst>
              <a:gd name="adj" fmla="val 20689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0164" y="3295650"/>
            <a:ext cx="133346" cy="13334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00659" y="3229981"/>
            <a:ext cx="2686889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</a:rPr>
              <a:t>Lower staffing requirements during peak periods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0164" y="3524250"/>
            <a:ext cx="133346" cy="13334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00659" y="3458581"/>
            <a:ext cx="1713867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</a:rPr>
              <a:t>ROI achieved within </a:t>
            </a:r>
            <a:r>
              <a:rPr sz="1000" b="1">
                <a:solidFill>
                  <a:srgbClr val="19376D"/>
                </a:solidFill>
              </a:rPr>
              <a:t>6 months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4086225"/>
            <a:ext cx="5333866" cy="2152650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Rounded Rectangle 27"/>
          <p:cNvSpPr/>
          <p:nvPr/>
        </p:nvSpPr>
        <p:spPr>
          <a:xfrm>
            <a:off x="809604" y="4229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4852" y="4324349"/>
            <a:ext cx="190495" cy="19049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85842" y="4249184"/>
            <a:ext cx="1640449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376D"/>
                </a:solidFill>
              </a:rPr>
              <a:t>Student Satisfaction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04" y="4682706"/>
            <a:ext cx="864276" cy="5596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325"/>
              </a:spcAft>
            </a:pPr>
            <a:r>
              <a:rPr sz="3200" b="1">
                <a:solidFill>
                  <a:srgbClr val="3A5BA0"/>
                </a:solidFill>
              </a:rPr>
              <a:t>85%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604" y="5226850"/>
            <a:ext cx="2529795" cy="2809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</a:rPr>
              <a:t>Increase in positive feedback from students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604" y="5543550"/>
            <a:ext cx="5048123" cy="552450"/>
          </a:xfrm>
          <a:prstGeom prst="roundRect">
            <a:avLst>
              <a:gd name="adj" fmla="val 20689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85802" y="5638799"/>
            <a:ext cx="152396" cy="13334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95347" y="5573132"/>
            <a:ext cx="1204112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</a:rPr>
              <a:t>Service rating: </a:t>
            </a:r>
            <a:r>
              <a:rPr sz="1000" b="1">
                <a:solidFill>
                  <a:srgbClr val="19376D"/>
                </a:solidFill>
              </a:rPr>
              <a:t>4.7/5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85802" y="5867399"/>
            <a:ext cx="133346" cy="13334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6298" y="5801732"/>
            <a:ext cx="1975156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</a:rPr>
              <a:t>Reduced complaint volume by </a:t>
            </a:r>
            <a:r>
              <a:rPr sz="1000" b="1">
                <a:solidFill>
                  <a:srgbClr val="19376D"/>
                </a:solidFill>
              </a:rPr>
              <a:t>60%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1095" y="4086225"/>
            <a:ext cx="5333866" cy="2152650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Rounded Rectangle 38"/>
          <p:cNvSpPr/>
          <p:nvPr/>
        </p:nvSpPr>
        <p:spPr>
          <a:xfrm>
            <a:off x="6333966" y="4229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29214" y="4324349"/>
            <a:ext cx="190495" cy="1904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810204" y="4249184"/>
            <a:ext cx="1064650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376D"/>
                </a:solidFill>
              </a:rPr>
              <a:t>Accessibility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3966" y="4682706"/>
            <a:ext cx="949234" cy="5596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325"/>
              </a:spcAft>
            </a:pPr>
            <a:r>
              <a:rPr sz="3200" b="1">
                <a:solidFill>
                  <a:srgbClr val="3A5BA0"/>
                </a:solidFill>
              </a:rPr>
              <a:t>24/7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3966" y="5226850"/>
            <a:ext cx="2436821" cy="2809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</a:rPr>
              <a:t>Support availability eliminating wait times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33966" y="5543550"/>
            <a:ext cx="5048123" cy="552450"/>
          </a:xfrm>
          <a:prstGeom prst="roundRect">
            <a:avLst>
              <a:gd name="adj" fmla="val 20689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10164" y="5638799"/>
            <a:ext cx="171445" cy="13334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629234" y="5573132"/>
            <a:ext cx="1576009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</a:rPr>
              <a:t>Queries handled: </a:t>
            </a:r>
            <a:r>
              <a:rPr sz="1000" b="1">
                <a:solidFill>
                  <a:srgbClr val="19376D"/>
                </a:solidFill>
              </a:rPr>
              <a:t>500+/day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10164" y="5867399"/>
            <a:ext cx="104772" cy="13334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572085" y="5801732"/>
            <a:ext cx="2106602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</a:rPr>
              <a:t>Multi-platform access for </a:t>
            </a:r>
            <a:r>
              <a:rPr sz="1000" b="1">
                <a:solidFill>
                  <a:srgbClr val="19376D"/>
                </a:solidFill>
              </a:rPr>
              <a:t>all students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8727B-7812-BEB1-F39B-A44F72A8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B1D0AF-FD1C-6D4A-057D-089554928309}"/>
              </a:ext>
            </a:extLst>
          </p:cNvPr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0D8D1-13EA-766E-F49B-78883BD1DFAE}"/>
              </a:ext>
            </a:extLst>
          </p:cNvPr>
          <p:cNvSpPr txBox="1"/>
          <p:nvPr/>
        </p:nvSpPr>
        <p:spPr>
          <a:xfrm>
            <a:off x="0" y="233539"/>
            <a:ext cx="12192000" cy="58067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bg1"/>
                </a:solidFill>
              </a:rPr>
              <a:t>        MEASURABLE BENEFITS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E9C1AE-33B3-D0C0-43A6-4575C4C67240}"/>
              </a:ext>
            </a:extLst>
          </p:cNvPr>
          <p:cNvSpPr txBox="1"/>
          <p:nvPr/>
        </p:nvSpPr>
        <p:spPr>
          <a:xfrm>
            <a:off x="5056298" y="1205360"/>
            <a:ext cx="2079095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1300"/>
              </a:spcAft>
            </a:pPr>
            <a:r>
              <a:rPr lang="en-US" b="1" dirty="0">
                <a:solidFill>
                  <a:srgbClr val="19376D"/>
                </a:solidFill>
              </a:rPr>
              <a:t>Impact Visualization</a:t>
            </a:r>
            <a:endParaRPr b="1" dirty="0">
              <a:solidFill>
                <a:srgbClr val="19376D"/>
              </a:solidFill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635362D1-8A6C-059D-1310-1B422B259EA6}"/>
              </a:ext>
            </a:extLst>
          </p:cNvPr>
          <p:cNvSpPr/>
          <p:nvPr/>
        </p:nvSpPr>
        <p:spPr>
          <a:xfrm>
            <a:off x="667038" y="1668733"/>
            <a:ext cx="10977566" cy="4393359"/>
          </a:xfrm>
          <a:prstGeom prst="roundRect">
            <a:avLst>
              <a:gd name="adj" fmla="val 65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E728BE6-1ED1-843A-3BAA-CD9D1170EA18}"/>
              </a:ext>
            </a:extLst>
          </p:cNvPr>
          <p:cNvSpPr/>
          <p:nvPr/>
        </p:nvSpPr>
        <p:spPr>
          <a:xfrm>
            <a:off x="305" y="6288833"/>
            <a:ext cx="12191695" cy="514350"/>
          </a:xfrm>
          <a:prstGeom prst="rect">
            <a:avLst/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F576C6-47EF-DCDD-D6F6-50BC284BA32A}"/>
              </a:ext>
            </a:extLst>
          </p:cNvPr>
          <p:cNvSpPr txBox="1"/>
          <p:nvPr/>
        </p:nvSpPr>
        <p:spPr>
          <a:xfrm>
            <a:off x="305" y="6501241"/>
            <a:ext cx="3486788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666666"/>
                </a:solidFill>
              </a:rPr>
              <a:t>Admira: Student Enquiry and Information Help Desk Agent</a:t>
            </a:r>
          </a:p>
        </p:txBody>
      </p:sp>
      <p:pic>
        <p:nvPicPr>
          <p:cNvPr id="58" name="Picture 57" descr="A graph of a bar chart&#10;&#10;AI-generated content may be incorrect.">
            <a:extLst>
              <a:ext uri="{FF2B5EF4-FFF2-40B4-BE49-F238E27FC236}">
                <a16:creationId xmlns:a16="http://schemas.microsoft.com/office/drawing/2014/main" id="{170EABA8-53B6-F382-EDD8-173CA32E6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12" y="1853457"/>
            <a:ext cx="10058399" cy="403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2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238124"/>
            <a:ext cx="1085822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Roadmap &amp;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333500"/>
            <a:ext cx="1085822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1950"/>
              </a:spcAft>
            </a:pPr>
            <a:r>
              <a:rPr sz="1674" b="1">
                <a:solidFill>
                  <a:srgbClr val="19376D"/>
                </a:solidFill>
              </a:rPr>
              <a:t>A Collaborative Path Forward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019299"/>
            <a:ext cx="2571685" cy="25907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762080" y="18764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40236" y="1895113"/>
            <a:ext cx="224677" cy="3436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62080" y="2295525"/>
            <a:ext cx="380990" cy="3809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28" y="2924175"/>
            <a:ext cx="219069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9376D"/>
                </a:solidFill>
              </a:rPr>
              <a:t>Pilot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118" y="3362962"/>
            <a:ext cx="2501300" cy="55117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555555"/>
                </a:solidFill>
              </a:rPr>
              <a:t>Deploy in one faculty to test core functions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28" y="4038599"/>
            <a:ext cx="2190695" cy="380999"/>
          </a:xfrm>
          <a:prstGeom prst="roundRect">
            <a:avLst>
              <a:gd name="adj" fmla="val 3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7228" y="4038599"/>
            <a:ext cx="2190695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975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1-2 Months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8914" y="2019299"/>
            <a:ext cx="2571685" cy="25907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24261" y="18764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2417" y="1895113"/>
            <a:ext cx="224677" cy="3436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638" y="2295525"/>
            <a:ext cx="476238" cy="3809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19409" y="2924175"/>
            <a:ext cx="219069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9376D"/>
                </a:solidFill>
              </a:rPr>
              <a:t>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409" y="3362962"/>
            <a:ext cx="2381190" cy="55117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Refine based on analytics and user input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9409" y="4038599"/>
            <a:ext cx="2190695" cy="380999"/>
          </a:xfrm>
          <a:prstGeom prst="roundRect">
            <a:avLst>
              <a:gd name="adj" fmla="val 3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9409" y="4038599"/>
            <a:ext cx="2190695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975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1 Month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1095" y="2019299"/>
            <a:ext cx="2571685" cy="25907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286442" y="18764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64598" y="1895113"/>
            <a:ext cx="224677" cy="3436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6442" y="2295525"/>
            <a:ext cx="380990" cy="38099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81590" y="2924175"/>
            <a:ext cx="219069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9376D"/>
                </a:solidFill>
              </a:rPr>
              <a:t>University-Wide Rollout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1094" y="3362962"/>
            <a:ext cx="2381191" cy="55117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555555"/>
                </a:solidFill>
              </a:rPr>
              <a:t>Scale across all departments with full feature set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1590" y="4038599"/>
            <a:ext cx="2190695" cy="380999"/>
          </a:xfrm>
          <a:prstGeom prst="roundRect">
            <a:avLst>
              <a:gd name="adj" fmla="val 3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1590" y="4038599"/>
            <a:ext cx="2190695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975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2-3 Months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6" y="2019299"/>
            <a:ext cx="2571685" cy="25907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048623" y="18764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48623" y="1895113"/>
            <a:ext cx="380990" cy="34362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48623" y="2295525"/>
            <a:ext cx="380990" cy="3809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43771" y="2924175"/>
            <a:ext cx="219069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9376D"/>
                </a:solidFill>
              </a:rPr>
              <a:t>Advanced Phases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3276" y="3362962"/>
            <a:ext cx="2381190" cy="55117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555555"/>
                </a:solidFill>
              </a:rPr>
              <a:t>Voice integration, multilingual support, predictive analytics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3771" y="4038599"/>
            <a:ext cx="2190695" cy="380999"/>
          </a:xfrm>
          <a:prstGeom prst="roundRect">
            <a:avLst>
              <a:gd name="adj" fmla="val 3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3771" y="4038599"/>
            <a:ext cx="2190695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975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Ongoing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6733" y="5086350"/>
            <a:ext cx="3495587" cy="76199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09604" y="5229225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4852" y="5353049"/>
            <a:ext cx="285742" cy="228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428714" y="5353049"/>
            <a:ext cx="197162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Collaborative Implementation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52816" y="5086350"/>
            <a:ext cx="3495587" cy="76199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495687" y="5229225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00459" y="5353049"/>
            <a:ext cx="257168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114797" y="5353049"/>
            <a:ext cx="166683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Data-Driven Optimization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29374" y="5086350"/>
            <a:ext cx="3495587" cy="76199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172245" y="5229225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67493" y="5353049"/>
            <a:ext cx="285742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791355" y="5353049"/>
            <a:ext cx="164778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Stakeholder Engagement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68477-71E5-DE1B-3749-C7A848AF6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7A8045-53F4-8AF2-1B39-E3A6C888C0E7}"/>
              </a:ext>
            </a:extLst>
          </p:cNvPr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66AFA-183E-7907-B49E-2228D5DED859}"/>
              </a:ext>
            </a:extLst>
          </p:cNvPr>
          <p:cNvSpPr txBox="1"/>
          <p:nvPr/>
        </p:nvSpPr>
        <p:spPr>
          <a:xfrm>
            <a:off x="4278971" y="240303"/>
            <a:ext cx="3633752" cy="5671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FFFF"/>
                </a:solidFill>
              </a:rPr>
              <a:t>ROADMAP &amp; PARTNERSHIP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5C78BB-CE9F-BC8E-2828-B00164D73BB2}"/>
              </a:ext>
            </a:extLst>
          </p:cNvPr>
          <p:cNvSpPr txBox="1"/>
          <p:nvPr/>
        </p:nvSpPr>
        <p:spPr>
          <a:xfrm>
            <a:off x="666733" y="1333500"/>
            <a:ext cx="1085822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1950"/>
              </a:spcAft>
            </a:pPr>
            <a:r>
              <a:rPr sz="1674" b="1">
                <a:solidFill>
                  <a:srgbClr val="19376D"/>
                </a:solidFill>
              </a:rPr>
              <a:t>A Collaborative Path Forward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83D44E4-02B3-68E0-E252-54E8FF1F49FC}"/>
              </a:ext>
            </a:extLst>
          </p:cNvPr>
          <p:cNvSpPr/>
          <p:nvPr/>
        </p:nvSpPr>
        <p:spPr>
          <a:xfrm>
            <a:off x="666733" y="1905387"/>
            <a:ext cx="10959210" cy="471231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A graph with a green line and orange rectangles&#10;&#10;AI-generated content may be incorrect.">
            <a:extLst>
              <a:ext uri="{FF2B5EF4-FFF2-40B4-BE49-F238E27FC236}">
                <a16:creationId xmlns:a16="http://schemas.microsoft.com/office/drawing/2014/main" id="{84BB32BF-4EE7-F46A-7AE6-5A72A60E6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770" y="2196524"/>
            <a:ext cx="9657691" cy="410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706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645" y="-1131922"/>
            <a:ext cx="12191695" cy="1047749"/>
          </a:xfrm>
          <a:prstGeom prst="rect">
            <a:avLst/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1378" y="-893798"/>
            <a:ext cx="1085822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Contact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7625" y="-2084421"/>
            <a:ext cx="1904952" cy="1904999"/>
          </a:xfrm>
          <a:prstGeom prst="roundRect">
            <a:avLst>
              <a:gd name="adj" fmla="val 50000"/>
            </a:avLst>
          </a:prstGeom>
          <a:solidFill>
            <a:srgbClr val="19376D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-401593" y="-1036673"/>
            <a:ext cx="1428714" cy="1428750"/>
          </a:xfrm>
          <a:prstGeom prst="roundRect">
            <a:avLst>
              <a:gd name="adj" fmla="val 30000"/>
            </a:avLst>
          </a:prstGeom>
          <a:solidFill>
            <a:srgbClr val="3A5BA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1378" y="353978"/>
            <a:ext cx="6229194" cy="8762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1300"/>
              </a:spcAft>
            </a:pPr>
            <a:r>
              <a:rPr sz="2511" b="1">
                <a:solidFill>
                  <a:srgbClr val="333333"/>
                </a:solidFill>
              </a:rPr>
              <a:t>Transform Your Student Services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378" y="1430302"/>
            <a:ext cx="622919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1">
                <a:solidFill>
                  <a:srgbClr val="3A5BA0"/>
                </a:solidFill>
              </a:rPr>
              <a:t>Partner with innovation to empower your 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1378" y="2125628"/>
            <a:ext cx="3019349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4249" y="2268503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645" y="2411378"/>
            <a:ext cx="171445" cy="1904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3359" y="2392328"/>
            <a:ext cx="149538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Solutions Architect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51223" y="2125628"/>
            <a:ext cx="3019349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094094" y="2268503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965" y="2411378"/>
            <a:ext cx="190495" cy="1904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13204" y="2392328"/>
            <a:ext cx="112392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Email Address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378" y="3078127"/>
            <a:ext cx="3019349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84249" y="3221002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7121" y="3363877"/>
            <a:ext cx="190495" cy="19049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03359" y="3344828"/>
            <a:ext cx="120964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Phone Number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51223" y="3078127"/>
            <a:ext cx="3019349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094094" y="3221002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6965" y="3363877"/>
            <a:ext cx="190495" cy="19049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13204" y="3344828"/>
            <a:ext cx="143823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376D"/>
                </a:solidFill>
              </a:rPr>
              <a:t>Company Website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1378" y="4221127"/>
            <a:ext cx="1828754" cy="552450"/>
          </a:xfrm>
          <a:prstGeom prst="roundRect">
            <a:avLst>
              <a:gd name="adj" fmla="val 34482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57015" y="4346317"/>
            <a:ext cx="1828754" cy="30207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 dirty="0">
                <a:solidFill>
                  <a:srgbClr val="FFFFFF"/>
                </a:solidFill>
              </a:rPr>
              <a:t> </a:t>
            </a:r>
            <a:r>
              <a:rPr sz="1104" dirty="0"/>
              <a:t>  </a:t>
            </a:r>
            <a:r>
              <a:rPr sz="956" b="1" dirty="0">
                <a:solidFill>
                  <a:srgbClr val="FFFFFF"/>
                </a:solidFill>
              </a:rPr>
              <a:t> Let's Connect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9497" y="4421152"/>
            <a:ext cx="190495" cy="1524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713004" y="4221127"/>
            <a:ext cx="1647783" cy="552450"/>
          </a:xfrm>
          <a:prstGeom prst="roundRect">
            <a:avLst>
              <a:gd name="adj" fmla="val 34482"/>
            </a:avLst>
          </a:prstGeom>
          <a:solidFill>
            <a:srgbClr val="FFFFFF"/>
          </a:solidFill>
          <a:ln w="1651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98747" y="4221127"/>
            <a:ext cx="1647783" cy="552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 dirty="0">
                <a:solidFill>
                  <a:srgbClr val="19376D"/>
                </a:solidFill>
              </a:rPr>
              <a:t> </a:t>
            </a:r>
            <a:r>
              <a:rPr sz="1104" dirty="0"/>
              <a:t>  </a:t>
            </a:r>
            <a:r>
              <a:rPr sz="956" b="1" dirty="0">
                <a:solidFill>
                  <a:srgbClr val="19376D"/>
                </a:solidFill>
              </a:rPr>
              <a:t> Learn More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70172" y="4421152"/>
            <a:ext cx="152396" cy="15240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618256" y="658778"/>
            <a:ext cx="3809904" cy="3809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04239" y="687355"/>
            <a:ext cx="952476" cy="952499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570733" y="1049304"/>
            <a:ext cx="1904952" cy="1904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>
                  <a:alpha val="10000"/>
                </a:srgbClr>
              </a:gs>
              <a:gs pos="100000">
                <a:srgbClr val="3A5BA0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951724" y="1444590"/>
            <a:ext cx="1142971" cy="1143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376D"/>
              </a:gs>
              <a:gs pos="100000">
                <a:srgbClr val="3A5BA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61268" y="1730340"/>
            <a:ext cx="714357" cy="571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901083" y="2902643"/>
            <a:ext cx="1244250" cy="4271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325"/>
              </a:spcAft>
            </a:pPr>
            <a:r>
              <a:rPr sz="1674" b="1" dirty="0">
                <a:solidFill>
                  <a:srgbClr val="333333"/>
                </a:solidFill>
              </a:rPr>
              <a:t>Admira SEID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9868" y="3346776"/>
            <a:ext cx="2473479" cy="29700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666666"/>
                </a:solidFill>
              </a:rPr>
              <a:t>Revolutionizing Student Services with AI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9742" y="3678202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04039" y="3782978"/>
            <a:ext cx="152396" cy="1714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094494" y="4106827"/>
            <a:ext cx="57148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9376D"/>
                </a:solidFill>
              </a:rPr>
              <a:t>Efficiency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99386" y="3678202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504159" y="3782978"/>
            <a:ext cx="171445" cy="1714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246990" y="4106827"/>
            <a:ext cx="69530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9376D"/>
                </a:solidFill>
              </a:rPr>
              <a:t>Satisfaction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42358" y="3678202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647130" y="3782978"/>
            <a:ext cx="171445" cy="1714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513784" y="4106827"/>
            <a:ext cx="438139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9376D"/>
                </a:solidFill>
              </a:rPr>
              <a:t>Growth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645" y="5211728"/>
            <a:ext cx="12191695" cy="514350"/>
          </a:xfrm>
          <a:prstGeom prst="rect">
            <a:avLst/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1378" y="5354603"/>
            <a:ext cx="450521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Admira: Student Enquiry and Information Help Desk 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9376D"/>
            </a:gs>
            <a:gs pos="50000">
              <a:srgbClr val="3A5BA0"/>
            </a:gs>
            <a:gs pos="100000">
              <a:srgbClr val="5B7FC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286742" y="-1428750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952476" y="5905500"/>
            <a:ext cx="1904952" cy="1904999"/>
          </a:xfrm>
          <a:prstGeom prst="roundRect">
            <a:avLst>
              <a:gd name="adj" fmla="val 3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19169" y="2714625"/>
            <a:ext cx="1428714" cy="14287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10464" y="4533900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629334" y="-5857875"/>
            <a:ext cx="28574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90775" y="-1114425"/>
            <a:ext cx="47623" cy="4762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90655" y="-2781300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43531" y="-2038349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590635" y="-885825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24401" y="-6257925"/>
            <a:ext cx="47623" cy="4762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15297" y="-6457950"/>
            <a:ext cx="19049" cy="1905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019749" y="-2590799"/>
            <a:ext cx="47623" cy="4762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533486" y="-4600575"/>
            <a:ext cx="28574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695507" y="-2800350"/>
            <a:ext cx="28574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00479" y="-4991100"/>
            <a:ext cx="47623" cy="4762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828754" y="-3838574"/>
            <a:ext cx="47623" cy="4762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72245" y="-5429250"/>
            <a:ext cx="28574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2667933" y="-1762125"/>
            <a:ext cx="47623" cy="4762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14757" y="-1838324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981450" y="-4171950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48463" y="-4924424"/>
            <a:ext cx="47623" cy="4762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962300" y="-6391275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2086922" y="-3533774"/>
            <a:ext cx="47623" cy="4762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34246" y="-5562600"/>
            <a:ext cx="47623" cy="4762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29214" y="-257175"/>
            <a:ext cx="28574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38719" y="-1647825"/>
            <a:ext cx="28574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447763" y="-6638924"/>
            <a:ext cx="28574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990875" y="-6115050"/>
            <a:ext cx="28574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591335" y="-3838574"/>
            <a:ext cx="47623" cy="4762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867253" y="-3571875"/>
            <a:ext cx="28574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029174" y="-361950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304992" y="-5248275"/>
            <a:ext cx="28574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943551" y="-533399"/>
            <a:ext cx="47623" cy="4762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829354" y="-247649"/>
            <a:ext cx="47623" cy="4762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6733" y="1019174"/>
            <a:ext cx="5619609" cy="761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1300"/>
              </a:spcAft>
            </a:pPr>
            <a:r>
              <a:rPr sz="4784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33" y="1971675"/>
            <a:ext cx="4762380" cy="800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600"/>
              </a:spcAft>
            </a:pPr>
            <a:r>
              <a:rPr sz="1674" b="1">
                <a:solidFill>
                  <a:srgbClr val="FFFFFF"/>
                </a:solidFill>
              </a:rPr>
              <a:t>Transforming student services with AI-powered innovation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181350"/>
            <a:ext cx="228594" cy="2286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38199" y="3152775"/>
            <a:ext cx="212402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24/7 Student Support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609975"/>
            <a:ext cx="228594" cy="2286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38199" y="3581400"/>
            <a:ext cx="280980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70% Efficiency Improvement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4038599"/>
            <a:ext cx="228594" cy="228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38199" y="4010024"/>
            <a:ext cx="206687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Seamless Integration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6733" y="4867274"/>
            <a:ext cx="2152596" cy="457200"/>
          </a:xfrm>
          <a:prstGeom prst="roundRect">
            <a:avLst>
              <a:gd name="adj" fmla="val 20833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5000625"/>
            <a:ext cx="190495" cy="19049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42971" y="4981574"/>
            <a:ext cx="148586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contact@admira.ai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62200" y="4867274"/>
            <a:ext cx="1847803" cy="457200"/>
          </a:xfrm>
          <a:prstGeom prst="roundRect">
            <a:avLst>
              <a:gd name="adj" fmla="val 20833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2696" y="5000625"/>
            <a:ext cx="190495" cy="19049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438439" y="4981574"/>
            <a:ext cx="118107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www.admira.ai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7828" y="314325"/>
            <a:ext cx="5057648" cy="570547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857828" y="314325"/>
            <a:ext cx="5057648" cy="5705475"/>
          </a:xfrm>
          <a:prstGeom prst="rect">
            <a:avLst/>
          </a:prstGeom>
          <a:gradFill rotWithShape="1">
            <a:gsLst>
              <a:gs pos="0">
                <a:srgbClr val="19376D">
                  <a:alpha val="40000"/>
                </a:srgbClr>
              </a:gs>
              <a:gs pos="100000">
                <a:srgbClr val="3A5BA0">
                  <a:alpha val="2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0" y="6343650"/>
            <a:ext cx="12191695" cy="51435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6733" y="6486525"/>
            <a:ext cx="450521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</a:rPr>
              <a:t>Admira: Student Enquiry and Information Help Desk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960</Words>
  <Application>Microsoft Office PowerPoint</Application>
  <PresentationFormat>Widescreen</PresentationFormat>
  <Paragraphs>293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Solomon Okpuno</cp:lastModifiedBy>
  <cp:revision>7</cp:revision>
  <dcterms:created xsi:type="dcterms:W3CDTF">2013-01-27T09:14:16Z</dcterms:created>
  <dcterms:modified xsi:type="dcterms:W3CDTF">2025-09-15T10:06:31Z</dcterms:modified>
  <cp:category/>
</cp:coreProperties>
</file>